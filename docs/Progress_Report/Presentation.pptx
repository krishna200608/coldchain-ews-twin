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Good morning, Professor and peers. Today I am presenting our project on Topic 21: A Digital Twin-Based Early Warning System for Cold Chain Disruption Detection. We set out to investigate whether embedding streaming machine learning detectors directly inside a digital twin can flag dangerous temperature breaches before irreversible spoilage occurs, rather than waiting for reactive alarms after the damage is already done.</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cold-chain logistics, waiting for an alarm to cross a fixed threshold is fundamentally reactive—by the time it sounds, irreversible damage has often already occurred. Our research tackles this gap by asking: can an event-driven digital twin catch the subtle precursor symptoms, such as compressor drift or variance loss, before the failure boundary is crossed? We evaluate exactly how many minutes of early warning we can gain, compare classical vs deep learning detectors, and verify simulation fidelity.</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Our work is grounded in recent literature from top journals in food engineering and industrial systems. Crucially, Vukšić et al. in 2026 demonstrated a 68-minute lead time using deep learning on maritime reefer containers, which independently corroborates our finding of a 64-minute lead time on drift faults. Furthermore, Xie et al. in 2025 benchmarked Isolation Forest on cold-chain fleets, while Meng et al. in 2024 in the Journal of Food Engineering and Wu et al. in 2023 established the digital twin framework we build upon.</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We used a 97,000-reading real IoT dataset covering over 4 months. In real supply chains, sensor packets arrive irregularly due to network jitter and dropouts—our data reflects this with a high variance coefficient of 46.2. Importantly, we maintain complete academic honesty: we explicitly treat this as a structural proxy for sensor streaming, rather than fabricating claims of live pharmaceutical field testing.</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Our architecture consists of three stages: data ingestion, machine learning detectors, and an event-driven SimPy digital twin modeling Source, Transit, and Destination. When a telemetry event reaches Destination, our three monitors score it in real time. We implemented silent buffer pre-warming so the rolling buffers have history, eliminating cold-start errors.</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To test the system rigorously, we injected 30 controlled synthetic disruptions representing real failure modes: abrupt steps, gradual drifts, and flatlines. We enforced a strict chronological 70/30 train/test split. To ensure scientific validity, all our performance benchmarks are evaluated solely on the 6 untouched test-set injections.</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Here is our primary research finding: On gradual drift disruptions—which represent slow compressor failures—Isolation Forest wins decisively, providing an early warning 64 minutes ahead on Out and 11 minutes ahead on In. On abrupt step breaches, all detectors trigger concurrently at 0 minutes. And for sensor flatlines, the traditional threshold completely fails to fire, while Isolation Forest catches both.</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When looking at point-wise metrics, we see a classic engineering trade-off: Isolation Forest acts as an aggressive tripwire with high recall over 80–90%, but at the cost of a higher false-alarm rate. In contrast, the LSTM is highly conservative on the In series with a 2.85% false-positive rate and higher precision. Neither detector universally dominates, showing why hybrid architectures are valuable.</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To prove that embedding these models in a simulation loop doesn't cause silent discrepancies, our automated cross-check report achieved a 100% exact match across all 42 applicable comparisons. Furthermore, the entire system is deployed live on Streamlit Cloud, featuring an interactive Guided Tour designed specifically for viva examination walkthroughs.</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To conclude: this project bridges machine learning, discrete-event digital twins, and disciplined corporate entrepreneurship. We did not cherry-pick our data or claim artificial perfection—we demonstrated exactly where classical ML provides real operational runway, where deep learning lags, and how an organization can rigorously evaluate technology under uncertainty. Thank you, and I look forward to your questions.</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Finally, our research is thoroughly grounded in contemporary peer-reviewed literature across food engineering, industrial digital twins, and machine learning. Here are the core benchmark references supporting our methodology and empirical findings. Thank you, and I am now happy to take any questions.</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2.png"/><Relationship Id="rId4" Type="http://schemas.openxmlformats.org/officeDocument/2006/relationships/image" Target="../media/image3.png"/><Relationship Id="rId5"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4.png"/><Relationship Id="rId4"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5.png"/><Relationship Id="rId4"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6.png"/><Relationship Id="rId4"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1.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E264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37160"/>
          </a:xfrm>
          <a:prstGeom prst="rect">
            <a:avLst/>
          </a:prstGeom>
          <a:solidFill>
            <a:srgbClr val="0284C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iiit_allahabad_logo.png"/>
          <p:cNvPicPr>
            <a:picLocks noChangeAspect="1"/>
          </p:cNvPicPr>
          <p:nvPr/>
        </p:nvPicPr>
        <p:blipFill>
          <a:blip r:embed="rId2"/>
          <a:stretch>
            <a:fillRect/>
          </a:stretch>
        </p:blipFill>
        <p:spPr>
          <a:xfrm>
            <a:off x="5303520" y="731520"/>
            <a:ext cx="1298592" cy="1371600"/>
          </a:xfrm>
          <a:prstGeom prst="rect">
            <a:avLst/>
          </a:prstGeom>
        </p:spPr>
      </p:pic>
      <p:sp>
        <p:nvSpPr>
          <p:cNvPr id="5" name="TextBox 4"/>
          <p:cNvSpPr txBox="1"/>
          <p:nvPr/>
        </p:nvSpPr>
        <p:spPr>
          <a:xfrm>
            <a:off x="914400" y="2286000"/>
            <a:ext cx="10362895" cy="2926080"/>
          </a:xfrm>
          <a:prstGeom prst="rect">
            <a:avLst/>
          </a:prstGeom>
          <a:noFill/>
        </p:spPr>
        <p:txBody>
          <a:bodyPr wrap="square">
            <a:spAutoFit/>
          </a:bodyPr>
          <a:lstStyle/>
          <a:p>
            <a:pPr algn="ctr">
              <a:spcAft>
                <a:spcPts val="800"/>
              </a:spcAft>
              <a:defRPr sz="2700" b="1">
                <a:solidFill>
                  <a:srgbClr val="FFFFFF"/>
                </a:solidFill>
                <a:latin typeface="Calibri"/>
              </a:defRPr>
            </a:pPr>
            <a:r>
              <a:t>Digital Twin-Based Early Warning System for Cold Chain Disruption Detection</a:t>
            </a:r>
          </a:p>
          <a:p>
            <a:pPr algn="ctr">
              <a:spcAft>
                <a:spcPts val="2000"/>
              </a:spcAft>
              <a:defRPr sz="1700">
                <a:solidFill>
                  <a:srgbClr val="BAE6FD"/>
                </a:solidFill>
                <a:latin typeface="Calibri"/>
              </a:defRPr>
            </a:pPr>
            <a:r>
              <a:t>Using Anomaly Detection inside a Discrete-Event Simulation Loop (Topic 21)</a:t>
            </a:r>
          </a:p>
          <a:p>
            <a:pPr algn="ctr">
              <a:spcAft>
                <a:spcPts val="1600"/>
              </a:spcAft>
              <a:defRPr sz="1300">
                <a:solidFill>
                  <a:srgbClr val="E2E8F0"/>
                </a:solidFill>
                <a:latin typeface="Calibri"/>
              </a:defRPr>
            </a:pPr>
            <a:r>
              <a:t>Presenter: Krishna Sikheriya (Roll No: IIT2023139) — 7th Semester B.Tech (IT)</a:t>
            </a:r>
            <a:br/>
            <a:r>
              <a:t>Course: Managing Corporate Entrepreneurship | Instructor: Dr. Netranand Pathak</a:t>
            </a:r>
            <a:br/>
            <a:r>
              <a:t>Indian Institute of Information Technology, Allahabad (IIITA)</a:t>
            </a:r>
          </a:p>
          <a:p>
            <a:pPr algn="ctr">
              <a:defRPr sz="1100">
                <a:solidFill>
                  <a:srgbClr val="38BDF8"/>
                </a:solidFill>
                <a:latin typeface="Calibri"/>
              </a:defRPr>
            </a:pPr>
            <a:r>
              <a:t>GitHub: github.com/Krishna200608/coldchain-ews-twin   |   Live Web App: coldchain-ews-twin.streamlit.app</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05840"/>
          </a:xfrm>
          <a:prstGeom prst="rect">
            <a:avLst/>
          </a:prstGeom>
          <a:solidFill>
            <a:srgbClr val="0E264D"/>
          </a:solidFill>
          <a:ln w="31750">
            <a:solidFill>
              <a:srgbClr val="0284C7"/>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l">
              <a:spcAft>
                <a:spcPts val="200"/>
              </a:spcAft>
              <a:defRPr sz="2200" b="1">
                <a:solidFill>
                  <a:srgbClr val="FFFFFF"/>
                </a:solidFill>
                <a:latin typeface="Calibri"/>
              </a:defRPr>
            </a:pPr>
            <a:r>
              <a:t>Problem Statement, Research Gap &amp; Core Objectives</a:t>
            </a:r>
          </a:p>
          <a:p>
            <a:pPr algn="l">
              <a:defRPr sz="1100">
                <a:solidFill>
                  <a:srgbClr val="BAE6FD"/>
                </a:solidFill>
                <a:latin typeface="Calibri"/>
              </a:defRPr>
            </a:pPr>
            <a:r>
              <a:t>Topic 21 — Digital Twin Early Warning System</a:t>
            </a:r>
          </a:p>
        </p:txBody>
      </p:sp>
      <p:pic>
        <p:nvPicPr>
          <p:cNvPr id="3" name="Picture 2" descr="iiit_allahabad_logo.png"/>
          <p:cNvPicPr>
            <a:picLocks noChangeAspect="1"/>
          </p:cNvPicPr>
          <p:nvPr/>
        </p:nvPicPr>
        <p:blipFill>
          <a:blip r:embed="rId2"/>
          <a:stretch>
            <a:fillRect/>
          </a:stretch>
        </p:blipFill>
        <p:spPr>
          <a:xfrm>
            <a:off x="11292840" y="109728"/>
            <a:ext cx="735869" cy="777240"/>
          </a:xfrm>
          <a:prstGeom prst="rect">
            <a:avLst/>
          </a:prstGeom>
        </p:spPr>
      </p:pic>
      <p:sp>
        <p:nvSpPr>
          <p:cNvPr id="4" name="TextBox 3"/>
          <p:cNvSpPr txBox="1"/>
          <p:nvPr/>
        </p:nvSpPr>
        <p:spPr>
          <a:xfrm>
            <a:off x="731520" y="6537960"/>
            <a:ext cx="10728655" cy="274320"/>
          </a:xfrm>
          <a:prstGeom prst="rect">
            <a:avLst/>
          </a:prstGeom>
          <a:noFill/>
        </p:spPr>
        <p:txBody>
          <a:bodyPr wrap="none" anchor="ctr">
            <a:spAutoFit/>
          </a:bodyPr>
          <a:lstStyle/>
          <a:p>
            <a:pPr algn="l">
              <a:defRPr sz="950">
                <a:solidFill>
                  <a:srgbClr val="94A3B8"/>
                </a:solidFill>
                <a:latin typeface="Calibri"/>
              </a:defRPr>
            </a:pPr>
            <a:r>
              <a:t>Managing Corporate Entrepreneurship (B.Tech 7th Sem) | Krishna Sikheriya (IIT2023139) | IIIT Allahabad</a:t>
            </a:r>
          </a:p>
        </p:txBody>
      </p:sp>
      <p:sp>
        <p:nvSpPr>
          <p:cNvPr id="5" name="Rounded Rectangle 4"/>
          <p:cNvSpPr/>
          <p:nvPr/>
        </p:nvSpPr>
        <p:spPr>
          <a:xfrm>
            <a:off x="731520" y="1280160"/>
            <a:ext cx="5120640" cy="4937760"/>
          </a:xfrm>
          <a:prstGeom prst="roundRect">
            <a:avLst/>
          </a:prstGeom>
          <a:solidFill>
            <a:srgbClr val="F0F7FF"/>
          </a:solidFill>
          <a:ln w="15240">
            <a:solidFill>
              <a:srgbClr val="CBD5E1"/>
            </a:solidFill>
          </a:ln>
        </p:spPr>
        <p:style>
          <a:lnRef idx="1">
            <a:schemeClr val="accent1"/>
          </a:lnRef>
          <a:fillRef idx="3">
            <a:schemeClr val="accent1"/>
          </a:fillRef>
          <a:effectRef idx="2">
            <a:schemeClr val="accent1"/>
          </a:effectRef>
          <a:fontRef idx="minor">
            <a:schemeClr val="lt1"/>
          </a:fontRef>
        </p:style>
        <p:txBody>
          <a:bodyPr rtlCol="0" anchor="t" wrap="square"/>
          <a:lstStyle/>
          <a:p>
            <a:pPr algn="ctr">
              <a:spcAft>
                <a:spcPts val="1200"/>
              </a:spcAft>
              <a:defRPr sz="1600" b="1">
                <a:solidFill>
                  <a:srgbClr val="0E264D"/>
                </a:solidFill>
                <a:latin typeface="Calibri"/>
              </a:defRPr>
            </a:pPr>
            <a:r>
              <a:t>The Operational Problem &amp; Research Gap</a:t>
            </a:r>
          </a:p>
          <a:p>
            <a:pPr>
              <a:spcAft>
                <a:spcPts val="1000"/>
              </a:spcAft>
              <a:defRPr sz="1150"/>
            </a:pPr>
            <a:r>
              <a:rPr b="1">
                <a:solidFill>
                  <a:srgbClr val="1E293B"/>
                </a:solidFill>
              </a:rPr>
              <a:t>The Cold Chain Reality: </a:t>
            </a:r>
            <a:r>
              <a:rPr>
                <a:solidFill>
                  <a:srgbClr val="1E293B"/>
                </a:solidFill>
              </a:rPr>
              <a:t>Vaccines, biologics, and premium perishables demand unbroken temperature control (e.g., 2°C to 8°C). A single excursion destroys cargo value.</a:t>
            </a:r>
          </a:p>
          <a:p>
            <a:pPr>
              <a:spcAft>
                <a:spcPts val="1000"/>
              </a:spcAft>
              <a:defRPr sz="1150"/>
            </a:pPr>
            <a:r>
              <a:rPr b="1">
                <a:solidFill>
                  <a:srgbClr val="1E293B"/>
                </a:solidFill>
              </a:rPr>
              <a:t>The Traditional Failure Mode: </a:t>
            </a:r>
            <a:r>
              <a:rPr>
                <a:solidFill>
                  <a:srgbClr val="1E293B"/>
                </a:solidFill>
              </a:rPr>
              <a:t>Existing logistics systems rely on static upper-bound threshold alarms that trigger only after temperature breaches a fixed limit for sustained durations (10–15 mins).</a:t>
            </a:r>
          </a:p>
          <a:p>
            <a:pPr>
              <a:spcAft>
                <a:spcPts val="1000"/>
              </a:spcAft>
              <a:defRPr sz="1150"/>
            </a:pPr>
            <a:r>
              <a:rPr b="1">
                <a:solidFill>
                  <a:srgbClr val="1E293B"/>
                </a:solidFill>
              </a:rPr>
              <a:t>The Post-Hoc Problem: </a:t>
            </a:r>
            <a:r>
              <a:rPr>
                <a:solidFill>
                  <a:srgbClr val="1E293B"/>
                </a:solidFill>
              </a:rPr>
              <a:t>By the time a static threshold alarm sounds, cumulative thermal exposure has already caused irreversible biochemical spoilage.</a:t>
            </a:r>
          </a:p>
          <a:p>
            <a:pPr>
              <a:spcAft>
                <a:spcPts val="1000"/>
              </a:spcAft>
              <a:defRPr sz="1150"/>
            </a:pPr>
            <a:r>
              <a:rPr b="1">
                <a:solidFill>
                  <a:srgbClr val="1E293B"/>
                </a:solidFill>
              </a:rPr>
              <a:t>The Literature Gap: </a:t>
            </a:r>
            <a:r>
              <a:rPr>
                <a:solidFill>
                  <a:srgbClr val="1E293B"/>
                </a:solidFill>
              </a:rPr>
              <a:t>Prior cold-chain research focuses predominantly on post-hoc quality loss modeling. Real-time anomaly detection embedded in a digital twin for early warning is underexplored.</a:t>
            </a:r>
          </a:p>
        </p:txBody>
      </p:sp>
      <p:sp>
        <p:nvSpPr>
          <p:cNvPr id="6" name="Rounded Rectangle 5"/>
          <p:cNvSpPr/>
          <p:nvPr/>
        </p:nvSpPr>
        <p:spPr>
          <a:xfrm>
            <a:off x="6217920" y="1280160"/>
            <a:ext cx="5212080" cy="4937760"/>
          </a:xfrm>
          <a:prstGeom prst="roundRect">
            <a:avLst/>
          </a:prstGeom>
          <a:solidFill>
            <a:srgbClr val="FFFFFF"/>
          </a:solidFill>
          <a:ln w="19050">
            <a:solidFill>
              <a:srgbClr val="0284C7"/>
            </a:solidFill>
          </a:ln>
        </p:spPr>
        <p:style>
          <a:lnRef idx="1">
            <a:schemeClr val="accent1"/>
          </a:lnRef>
          <a:fillRef idx="3">
            <a:schemeClr val="accent1"/>
          </a:fillRef>
          <a:effectRef idx="2">
            <a:schemeClr val="accent1"/>
          </a:effectRef>
          <a:fontRef idx="minor">
            <a:schemeClr val="lt1"/>
          </a:fontRef>
        </p:style>
        <p:txBody>
          <a:bodyPr rtlCol="0" anchor="t" wrap="square"/>
          <a:lstStyle/>
          <a:p>
            <a:pPr algn="ctr">
              <a:spcAft>
                <a:spcPts val="1200"/>
              </a:spcAft>
              <a:defRPr sz="1600" b="1">
                <a:solidFill>
                  <a:srgbClr val="0284C7"/>
                </a:solidFill>
                <a:latin typeface="Calibri"/>
              </a:defRPr>
            </a:pPr>
            <a:r>
              <a:t>Core Objectives &amp; Research Questions</a:t>
            </a:r>
          </a:p>
          <a:p>
            <a:pPr>
              <a:spcAft>
                <a:spcPts val="800"/>
              </a:spcAft>
              <a:defRPr sz="1100"/>
            </a:pPr>
            <a:r>
              <a:rPr b="1">
                <a:solidFill>
                  <a:srgbClr val="0E264D"/>
                </a:solidFill>
              </a:rPr>
              <a:t>Objective 1 (Digital Twin): </a:t>
            </a:r>
            <a:r>
              <a:rPr>
                <a:solidFill>
                  <a:srgbClr val="1E293B"/>
                </a:solidFill>
              </a:rPr>
              <a:t>Build an event-driven SimPy simulation replicating the asynchronous streaming and network dropouts of real transit.</a:t>
            </a:r>
          </a:p>
          <a:p>
            <a:pPr>
              <a:spcAft>
                <a:spcPts val="800"/>
              </a:spcAft>
              <a:defRPr sz="1100"/>
            </a:pPr>
            <a:r>
              <a:rPr b="1">
                <a:solidFill>
                  <a:srgbClr val="0E264D"/>
                </a:solidFill>
              </a:rPr>
              <a:t>Objective 2 (Embedded Anomaly Detection): </a:t>
            </a:r>
            <a:r>
              <a:rPr>
                <a:solidFill>
                  <a:srgbClr val="1E293B"/>
                </a:solidFill>
              </a:rPr>
              <a:t>Embed unsupervised Isolation Forest and deep LSTM-Autoencoder into the twin loop.</a:t>
            </a:r>
          </a:p>
          <a:p>
            <a:pPr>
              <a:spcAft>
                <a:spcPts val="800"/>
              </a:spcAft>
              <a:defRPr sz="1100"/>
            </a:pPr>
            <a:r>
              <a:rPr b="1">
                <a:solidFill>
                  <a:srgbClr val="0E264D"/>
                </a:solidFill>
              </a:rPr>
              <a:t>RQ1 (Early Warning Runway): </a:t>
            </a:r>
            <a:r>
              <a:rPr>
                <a:solidFill>
                  <a:srgbClr val="1E293B"/>
                </a:solidFill>
              </a:rPr>
              <a:t>How many minutes of lead time (Δt_lead = t_irr - t_alarm) can machine learning provide before irreversible failure?</a:t>
            </a:r>
          </a:p>
          <a:p>
            <a:pPr>
              <a:spcAft>
                <a:spcPts val="800"/>
              </a:spcAft>
              <a:defRPr sz="1100"/>
            </a:pPr>
            <a:r>
              <a:rPr b="1">
                <a:solidFill>
                  <a:srgbClr val="0E264D"/>
                </a:solidFill>
              </a:rPr>
              <a:t>RQ2 (Model Trade-off): </a:t>
            </a:r>
            <a:r>
              <a:rPr>
                <a:solidFill>
                  <a:srgbClr val="1E293B"/>
                </a:solidFill>
              </a:rPr>
              <a:t>How does classical tree isolation compare against deep recurrent reconstruction on irregular edge telemetry?</a:t>
            </a:r>
          </a:p>
          <a:p>
            <a:pPr>
              <a:spcAft>
                <a:spcPts val="800"/>
              </a:spcAft>
              <a:defRPr sz="1100"/>
            </a:pPr>
            <a:r>
              <a:rPr b="1">
                <a:solidFill>
                  <a:srgbClr val="0E264D"/>
                </a:solidFill>
              </a:rPr>
              <a:t>RQ3 (Simulation Fidelity): </a:t>
            </a:r>
            <a:r>
              <a:rPr>
                <a:solidFill>
                  <a:srgbClr val="1E293B"/>
                </a:solidFill>
              </a:rPr>
              <a:t>Can live streaming monitors run without silent divergence or cold-start lag relative to offline batch evaluation?</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05840"/>
          </a:xfrm>
          <a:prstGeom prst="rect">
            <a:avLst/>
          </a:prstGeom>
          <a:solidFill>
            <a:srgbClr val="0E264D"/>
          </a:solidFill>
          <a:ln w="31750">
            <a:solidFill>
              <a:srgbClr val="0284C7"/>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l">
              <a:spcAft>
                <a:spcPts val="200"/>
              </a:spcAft>
              <a:defRPr sz="2200" b="1">
                <a:solidFill>
                  <a:srgbClr val="FFFFFF"/>
                </a:solidFill>
                <a:latin typeface="Calibri"/>
              </a:defRPr>
            </a:pPr>
            <a:r>
              <a:t>Relevant Literature Review (Recent Key Papers 2023–2026)</a:t>
            </a:r>
          </a:p>
          <a:p>
            <a:pPr algn="l">
              <a:defRPr sz="1100">
                <a:solidFill>
                  <a:srgbClr val="BAE6FD"/>
                </a:solidFill>
                <a:latin typeface="Calibri"/>
              </a:defRPr>
            </a:pPr>
            <a:r>
              <a:t>Topic 21 — Digital Twin Early Warning System</a:t>
            </a:r>
          </a:p>
        </p:txBody>
      </p:sp>
      <p:pic>
        <p:nvPicPr>
          <p:cNvPr id="3" name="Picture 2" descr="iiit_allahabad_logo.png"/>
          <p:cNvPicPr>
            <a:picLocks noChangeAspect="1"/>
          </p:cNvPicPr>
          <p:nvPr/>
        </p:nvPicPr>
        <p:blipFill>
          <a:blip r:embed="rId2"/>
          <a:stretch>
            <a:fillRect/>
          </a:stretch>
        </p:blipFill>
        <p:spPr>
          <a:xfrm>
            <a:off x="11292840" y="109728"/>
            <a:ext cx="735869" cy="777240"/>
          </a:xfrm>
          <a:prstGeom prst="rect">
            <a:avLst/>
          </a:prstGeom>
        </p:spPr>
      </p:pic>
      <p:sp>
        <p:nvSpPr>
          <p:cNvPr id="4" name="TextBox 3"/>
          <p:cNvSpPr txBox="1"/>
          <p:nvPr/>
        </p:nvSpPr>
        <p:spPr>
          <a:xfrm>
            <a:off x="731520" y="6537960"/>
            <a:ext cx="10728655" cy="274320"/>
          </a:xfrm>
          <a:prstGeom prst="rect">
            <a:avLst/>
          </a:prstGeom>
          <a:noFill/>
        </p:spPr>
        <p:txBody>
          <a:bodyPr wrap="none" anchor="ctr">
            <a:spAutoFit/>
          </a:bodyPr>
          <a:lstStyle/>
          <a:p>
            <a:pPr algn="l">
              <a:defRPr sz="950">
                <a:solidFill>
                  <a:srgbClr val="94A3B8"/>
                </a:solidFill>
                <a:latin typeface="Calibri"/>
              </a:defRPr>
            </a:pPr>
            <a:r>
              <a:t>Managing Corporate Entrepreneurship (B.Tech 7th Sem) | Krishna Sikheriya (IIT2023139) | IIIT Allahabad</a:t>
            </a:r>
          </a:p>
        </p:txBody>
      </p:sp>
      <p:graphicFrame>
        <p:nvGraphicFramePr>
          <p:cNvPr id="5" name="Table 4"/>
          <p:cNvGraphicFramePr>
            <a:graphicFrameLocks noGrp="1"/>
          </p:cNvGraphicFramePr>
          <p:nvPr/>
        </p:nvGraphicFramePr>
        <p:xfrm>
          <a:off x="731520" y="1280160"/>
          <a:ext cx="10698480" cy="4937760"/>
        </p:xfrm>
        <a:graphic>
          <a:graphicData uri="http://schemas.openxmlformats.org/drawingml/2006/table">
            <a:tbl>
              <a:tblPr firstRow="1" bandRow="1">
                <a:tableStyleId>{5C22544A-7EE6-4342-B048-85BDC9FD1C3A}</a:tableStyleId>
              </a:tblPr>
              <a:tblGrid>
                <a:gridCol w="2011680"/>
                <a:gridCol w="2194560"/>
                <a:gridCol w="3291840"/>
                <a:gridCol w="3200400"/>
              </a:tblGrid>
              <a:tr h="822960">
                <a:tc>
                  <a:txBody>
                    <a:bodyPr/>
                    <a:lstStyle/>
                    <a:p>
                      <a:pPr>
                        <a:defRPr sz="1100" b="1">
                          <a:solidFill>
                            <a:srgbClr val="FFFFFF"/>
                          </a:solidFill>
                          <a:latin typeface="Calibri"/>
                        </a:defRPr>
                      </a:pPr>
                      <a:r>
                        <a:t>Paper Citation</a:t>
                      </a:r>
                    </a:p>
                  </a:txBody>
                  <a:tcPr>
                    <a:solidFill>
                      <a:srgbClr val="0E264D"/>
                    </a:solidFill>
                  </a:tcPr>
                </a:tc>
                <a:tc>
                  <a:txBody>
                    <a:bodyPr/>
                    <a:lstStyle/>
                    <a:p>
                      <a:pPr>
                        <a:defRPr sz="1100" b="1">
                          <a:solidFill>
                            <a:srgbClr val="FFFFFF"/>
                          </a:solidFill>
                          <a:latin typeface="Calibri"/>
                        </a:defRPr>
                      </a:pPr>
                      <a:r>
                        <a:t>Journal / Venue</a:t>
                      </a:r>
                    </a:p>
                  </a:txBody>
                  <a:tcPr>
                    <a:solidFill>
                      <a:srgbClr val="0E264D"/>
                    </a:solidFill>
                  </a:tcPr>
                </a:tc>
                <a:tc>
                  <a:txBody>
                    <a:bodyPr/>
                    <a:lstStyle/>
                    <a:p>
                      <a:pPr>
                        <a:defRPr sz="1100" b="1">
                          <a:solidFill>
                            <a:srgbClr val="FFFFFF"/>
                          </a:solidFill>
                          <a:latin typeface="Calibri"/>
                        </a:defRPr>
                      </a:pPr>
                      <a:r>
                        <a:t>Core Contribution</a:t>
                      </a:r>
                    </a:p>
                  </a:txBody>
                  <a:tcPr>
                    <a:solidFill>
                      <a:srgbClr val="0E264D"/>
                    </a:solidFill>
                  </a:tcPr>
                </a:tc>
                <a:tc>
                  <a:txBody>
                    <a:bodyPr/>
                    <a:lstStyle/>
                    <a:p>
                      <a:pPr>
                        <a:defRPr sz="1100" b="1">
                          <a:solidFill>
                            <a:srgbClr val="FFFFFF"/>
                          </a:solidFill>
                          <a:latin typeface="Calibri"/>
                        </a:defRPr>
                      </a:pPr>
                      <a:r>
                        <a:t>Direct Relevance to Topic 21</a:t>
                      </a:r>
                    </a:p>
                  </a:txBody>
                  <a:tcPr>
                    <a:solidFill>
                      <a:srgbClr val="0E264D"/>
                    </a:solidFill>
                  </a:tcPr>
                </a:tc>
              </a:tr>
              <a:tr h="822960">
                <a:tc>
                  <a:txBody>
                    <a:bodyPr/>
                    <a:lstStyle/>
                    <a:p>
                      <a:pPr>
                        <a:defRPr sz="1000" b="1">
                          <a:solidFill>
                            <a:srgbClr val="0E264D"/>
                          </a:solidFill>
                          <a:latin typeface="Calibri"/>
                        </a:defRPr>
                      </a:pPr>
                      <a:r>
                        <a:t>Vukšić et al. (2026)</a:t>
                      </a:r>
                    </a:p>
                  </a:txBody>
                  <a:tcPr>
                    <a:solidFill>
                      <a:srgbClr val="F0F7FF"/>
                    </a:solidFill>
                  </a:tcPr>
                </a:tc>
                <a:tc>
                  <a:txBody>
                    <a:bodyPr/>
                    <a:lstStyle/>
                    <a:p>
                      <a:pPr>
                        <a:defRPr sz="1000">
                          <a:solidFill>
                            <a:srgbClr val="1E293B"/>
                          </a:solidFill>
                          <a:latin typeface="Calibri"/>
                        </a:defRPr>
                      </a:pPr>
                      <a:r>
                        <a:t>Applied Sciences</a:t>
                      </a:r>
                    </a:p>
                    <a:p>
                      <a:r>
                        <a:t>(MDPI)</a:t>
                      </a:r>
                    </a:p>
                  </a:txBody>
                  <a:tcPr>
                    <a:solidFill>
                      <a:srgbClr val="F0F7FF"/>
                    </a:solidFill>
                  </a:tcPr>
                </a:tc>
                <a:tc>
                  <a:txBody>
                    <a:bodyPr/>
                    <a:lstStyle/>
                    <a:p>
                      <a:pPr>
                        <a:defRPr sz="1000">
                          <a:solidFill>
                            <a:srgbClr val="1E293B"/>
                          </a:solidFill>
                          <a:latin typeface="Calibri"/>
                        </a:defRPr>
                      </a:pPr>
                      <a:r>
                        <a:t>Hybrid physics-based digital twin + autoencoder for reefer maritime containers.</a:t>
                      </a:r>
                    </a:p>
                  </a:txBody>
                  <a:tcPr>
                    <a:solidFill>
                      <a:srgbClr val="F0F7FF"/>
                    </a:solidFill>
                  </a:tcPr>
                </a:tc>
                <a:tc>
                  <a:txBody>
                    <a:bodyPr/>
                    <a:lstStyle/>
                    <a:p>
                      <a:pPr>
                        <a:defRPr sz="1000">
                          <a:solidFill>
                            <a:srgbClr val="1E293B"/>
                          </a:solidFill>
                          <a:latin typeface="Calibri"/>
                        </a:defRPr>
                      </a:pPr>
                      <a:r>
                        <a:t>Reports median lead time of ~68 min; independently corroborates our 64-minute early warning on drift.</a:t>
                      </a:r>
                    </a:p>
                  </a:txBody>
                  <a:tcPr>
                    <a:solidFill>
                      <a:srgbClr val="F0F7FF"/>
                    </a:solidFill>
                  </a:tcPr>
                </a:tc>
              </a:tr>
              <a:tr h="822960">
                <a:tc>
                  <a:txBody>
                    <a:bodyPr/>
                    <a:lstStyle/>
                    <a:p>
                      <a:pPr>
                        <a:defRPr sz="1000" b="1">
                          <a:solidFill>
                            <a:srgbClr val="0E264D"/>
                          </a:solidFill>
                          <a:latin typeface="Calibri"/>
                        </a:defRPr>
                      </a:pPr>
                      <a:r>
                        <a:t>Xie et al. (2025)</a:t>
                      </a:r>
                    </a:p>
                  </a:txBody>
                  <a:tcPr>
                    <a:solidFill>
                      <a:srgbClr val="FFFFFF"/>
                    </a:solidFill>
                  </a:tcPr>
                </a:tc>
                <a:tc>
                  <a:txBody>
                    <a:bodyPr/>
                    <a:lstStyle/>
                    <a:p>
                      <a:pPr>
                        <a:defRPr sz="1000">
                          <a:solidFill>
                            <a:srgbClr val="1E293B"/>
                          </a:solidFill>
                          <a:latin typeface="Calibri"/>
                        </a:defRPr>
                      </a:pPr>
                      <a:r>
                        <a:t>PLOS ONE</a:t>
                      </a:r>
                    </a:p>
                  </a:txBody>
                  <a:tcPr>
                    <a:solidFill>
                      <a:srgbClr val="FFFFFF"/>
                    </a:solidFill>
                  </a:tcPr>
                </a:tc>
                <a:tc>
                  <a:txBody>
                    <a:bodyPr/>
                    <a:lstStyle/>
                    <a:p>
                      <a:pPr>
                        <a:defRPr sz="1000">
                          <a:solidFill>
                            <a:srgbClr val="1E293B"/>
                          </a:solidFill>
                          <a:latin typeface="Calibri"/>
                        </a:defRPr>
                      </a:pPr>
                      <a:r>
                        <a:t>Improved Isolation Forest (subsampling + feature grouping) for streaming cold-chain fleet data.</a:t>
                      </a:r>
                    </a:p>
                  </a:txBody>
                  <a:tcPr>
                    <a:solidFill>
                      <a:srgbClr val="FFFFFF"/>
                    </a:solidFill>
                  </a:tcPr>
                </a:tc>
                <a:tc>
                  <a:txBody>
                    <a:bodyPr/>
                    <a:lstStyle/>
                    <a:p>
                      <a:pPr>
                        <a:defRPr sz="1000">
                          <a:solidFill>
                            <a:srgbClr val="1E293B"/>
                          </a:solidFill>
                          <a:latin typeface="Calibri"/>
                        </a:defRPr>
                      </a:pPr>
                      <a:r>
                        <a:t>Benchmarks tree-based streaming anomaly detection; contextualizes single-sensor point-wise metrics.</a:t>
                      </a:r>
                    </a:p>
                  </a:txBody>
                  <a:tcPr>
                    <a:solidFill>
                      <a:srgbClr val="FFFFFF"/>
                    </a:solidFill>
                  </a:tcPr>
                </a:tc>
              </a:tr>
              <a:tr h="822960">
                <a:tc>
                  <a:txBody>
                    <a:bodyPr/>
                    <a:lstStyle/>
                    <a:p>
                      <a:pPr>
                        <a:defRPr sz="1000" b="1">
                          <a:solidFill>
                            <a:srgbClr val="0E264D"/>
                          </a:solidFill>
                          <a:latin typeface="Calibri"/>
                        </a:defRPr>
                      </a:pPr>
                      <a:r>
                        <a:t>Meng et al. (2024)</a:t>
                      </a:r>
                    </a:p>
                  </a:txBody>
                  <a:tcPr>
                    <a:solidFill>
                      <a:srgbClr val="F0F7FF"/>
                    </a:solidFill>
                  </a:tcPr>
                </a:tc>
                <a:tc>
                  <a:txBody>
                    <a:bodyPr/>
                    <a:lstStyle/>
                    <a:p>
                      <a:pPr>
                        <a:defRPr sz="1000">
                          <a:solidFill>
                            <a:srgbClr val="1E293B"/>
                          </a:solidFill>
                          <a:latin typeface="Calibri"/>
                        </a:defRPr>
                      </a:pPr>
                      <a:r>
                        <a:t>Journal of Food Engineering</a:t>
                      </a:r>
                    </a:p>
                    <a:p>
                      <a:r>
                        <a:t>(Elsevier)</a:t>
                      </a:r>
                    </a:p>
                  </a:txBody>
                  <a:tcPr>
                    <a:solidFill>
                      <a:srgbClr val="F0F7FF"/>
                    </a:solidFill>
                  </a:tcPr>
                </a:tc>
                <a:tc>
                  <a:txBody>
                    <a:bodyPr/>
                    <a:lstStyle/>
                    <a:p>
                      <a:pPr>
                        <a:defRPr sz="1000">
                          <a:solidFill>
                            <a:srgbClr val="1E293B"/>
                          </a:solidFill>
                          <a:latin typeface="Calibri"/>
                        </a:defRPr>
                      </a:pPr>
                      <a:r>
                        <a:t>Cost-effective box-level digital twin temperature modeling + static pallet alarms.</a:t>
                      </a:r>
                    </a:p>
                  </a:txBody>
                  <a:tcPr>
                    <a:solidFill>
                      <a:srgbClr val="F0F7FF"/>
                    </a:solidFill>
                  </a:tcPr>
                </a:tc>
                <a:tc>
                  <a:txBody>
                    <a:bodyPr/>
                    <a:lstStyle/>
                    <a:p>
                      <a:pPr>
                        <a:defRPr sz="1000">
                          <a:solidFill>
                            <a:srgbClr val="1E293B"/>
                          </a:solidFill>
                          <a:latin typeface="Calibri"/>
                        </a:defRPr>
                      </a:pPr>
                      <a:r>
                        <a:t>Exemplifies the traditional static threshold alarm paradigm that our proactive system benchmarks against.</a:t>
                      </a:r>
                    </a:p>
                  </a:txBody>
                  <a:tcPr>
                    <a:solidFill>
                      <a:srgbClr val="F0F7FF"/>
                    </a:solidFill>
                  </a:tcPr>
                </a:tc>
              </a:tr>
              <a:tr h="822960">
                <a:tc>
                  <a:txBody>
                    <a:bodyPr/>
                    <a:lstStyle/>
                    <a:p>
                      <a:pPr>
                        <a:defRPr sz="1000" b="1">
                          <a:solidFill>
                            <a:srgbClr val="0E264D"/>
                          </a:solidFill>
                          <a:latin typeface="Calibri"/>
                        </a:defRPr>
                      </a:pPr>
                      <a:r>
                        <a:t>Wu et al. (2023)</a:t>
                      </a:r>
                    </a:p>
                  </a:txBody>
                  <a:tcPr>
                    <a:solidFill>
                      <a:srgbClr val="FFFFFF"/>
                    </a:solidFill>
                  </a:tcPr>
                </a:tc>
                <a:tc>
                  <a:txBody>
                    <a:bodyPr/>
                    <a:lstStyle/>
                    <a:p>
                      <a:pPr>
                        <a:defRPr sz="1000">
                          <a:solidFill>
                            <a:srgbClr val="1E293B"/>
                          </a:solidFill>
                          <a:latin typeface="Calibri"/>
                        </a:defRPr>
                      </a:pPr>
                      <a:r>
                        <a:t>J. Industrial Information</a:t>
                      </a:r>
                    </a:p>
                    <a:p>
                      <a:r>
                        <a:t>Integration (Elsevier)</a:t>
                      </a:r>
                    </a:p>
                  </a:txBody>
                  <a:tcPr>
                    <a:solidFill>
                      <a:srgbClr val="FFFFFF"/>
                    </a:solidFill>
                  </a:tcPr>
                </a:tc>
                <a:tc>
                  <a:txBody>
                    <a:bodyPr/>
                    <a:lstStyle/>
                    <a:p>
                      <a:pPr>
                        <a:defRPr sz="1000">
                          <a:solidFill>
                            <a:srgbClr val="1E293B"/>
                          </a:solidFill>
                          <a:latin typeface="Calibri"/>
                        </a:defRPr>
                      </a:pPr>
                      <a:r>
                        <a:t>Internet-of-Everything and Digital-Twin platform for cold-chain service logistics.</a:t>
                      </a:r>
                    </a:p>
                  </a:txBody>
                  <a:tcPr>
                    <a:solidFill>
                      <a:srgbClr val="FFFFFF"/>
                    </a:solidFill>
                  </a:tcPr>
                </a:tc>
                <a:tc>
                  <a:txBody>
                    <a:bodyPr/>
                    <a:lstStyle/>
                    <a:p>
                      <a:pPr>
                        <a:defRPr sz="1000">
                          <a:solidFill>
                            <a:srgbClr val="1E293B"/>
                          </a:solidFill>
                          <a:latin typeface="Calibri"/>
                        </a:defRPr>
                      </a:pPr>
                      <a:r>
                        <a:t>Establishes architectural precedent for embedding AI inference into operational digital-twin pipelines.</a:t>
                      </a:r>
                    </a:p>
                  </a:txBody>
                  <a:tcPr>
                    <a:solidFill>
                      <a:srgbClr val="FFFFFF"/>
                    </a:solidFill>
                  </a:tcPr>
                </a:tc>
              </a:tr>
              <a:tr h="822960">
                <a:tc>
                  <a:txBody>
                    <a:bodyPr/>
                    <a:lstStyle/>
                    <a:p>
                      <a:pPr>
                        <a:defRPr sz="1000" b="1">
                          <a:solidFill>
                            <a:srgbClr val="0E264D"/>
                          </a:solidFill>
                          <a:latin typeface="Calibri"/>
                        </a:defRPr>
                      </a:pPr>
                      <a:r>
                        <a:t>Defraeye et al. (2023)</a:t>
                      </a:r>
                    </a:p>
                  </a:txBody>
                  <a:tcPr>
                    <a:solidFill>
                      <a:srgbClr val="F0F7FF"/>
                    </a:solidFill>
                  </a:tcPr>
                </a:tc>
                <a:tc>
                  <a:txBody>
                    <a:bodyPr/>
                    <a:lstStyle/>
                    <a:p>
                      <a:pPr>
                        <a:defRPr sz="1000">
                          <a:solidFill>
                            <a:srgbClr val="1E293B"/>
                          </a:solidFill>
                          <a:latin typeface="Calibri"/>
                        </a:defRPr>
                      </a:pPr>
                      <a:r>
                        <a:t>Comput. Electron. Agric. /</a:t>
                      </a:r>
                    </a:p>
                    <a:p>
                      <a:r>
                        <a:t>J. Food Eng.</a:t>
                      </a:r>
                    </a:p>
                  </a:txBody>
                  <a:tcPr>
                    <a:solidFill>
                      <a:srgbClr val="F0F7FF"/>
                    </a:solidFill>
                  </a:tcPr>
                </a:tc>
                <a:tc>
                  <a:txBody>
                    <a:bodyPr/>
                    <a:lstStyle/>
                    <a:p>
                      <a:pPr>
                        <a:defRPr sz="1000">
                          <a:solidFill>
                            <a:srgbClr val="1E293B"/>
                          </a:solidFill>
                          <a:latin typeface="Calibri"/>
                        </a:defRPr>
                      </a:pPr>
                      <a:r>
                        <a:t>Comprehensive review of food cold-chain digital twins and sensor dynamics.</a:t>
                      </a:r>
                    </a:p>
                  </a:txBody>
                  <a:tcPr>
                    <a:solidFill>
                      <a:srgbClr val="F0F7FF"/>
                    </a:solidFill>
                  </a:tcPr>
                </a:tc>
                <a:tc>
                  <a:txBody>
                    <a:bodyPr/>
                    <a:lstStyle/>
                    <a:p>
                      <a:pPr>
                        <a:defRPr sz="1000">
                          <a:solidFill>
                            <a:srgbClr val="1E293B"/>
                          </a:solidFill>
                          <a:latin typeface="Calibri"/>
                        </a:defRPr>
                      </a:pPr>
                      <a:r>
                        <a:t>Identifies fundamental gap: transitioning from post-hoc quality loss to live event-driven early warning.</a:t>
                      </a:r>
                    </a:p>
                  </a:txBody>
                  <a:tcPr>
                    <a:solidFill>
                      <a:srgbClr val="F0F7FF"/>
                    </a:solidFill>
                  </a:tcPr>
                </a:tc>
              </a:tr>
            </a:tbl>
          </a:graphicData>
        </a:graphic>
      </p:graphicFrame>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05840"/>
          </a:xfrm>
          <a:prstGeom prst="rect">
            <a:avLst/>
          </a:prstGeom>
          <a:solidFill>
            <a:srgbClr val="0E264D"/>
          </a:solidFill>
          <a:ln w="31750">
            <a:solidFill>
              <a:srgbClr val="0284C7"/>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l">
              <a:spcAft>
                <a:spcPts val="200"/>
              </a:spcAft>
              <a:defRPr sz="2200" b="1">
                <a:solidFill>
                  <a:srgbClr val="FFFFFF"/>
                </a:solidFill>
                <a:latin typeface="Calibri"/>
              </a:defRPr>
            </a:pPr>
            <a:r>
              <a:t>Data Strategy &amp; Structural Proxy Framing</a:t>
            </a:r>
          </a:p>
          <a:p>
            <a:pPr algn="l">
              <a:defRPr sz="1100">
                <a:solidFill>
                  <a:srgbClr val="BAE6FD"/>
                </a:solidFill>
                <a:latin typeface="Calibri"/>
              </a:defRPr>
            </a:pPr>
            <a:r>
              <a:t>Topic 21 — Digital Twin Early Warning System</a:t>
            </a:r>
          </a:p>
        </p:txBody>
      </p:sp>
      <p:pic>
        <p:nvPicPr>
          <p:cNvPr id="3" name="Picture 2" descr="iiit_allahabad_logo.png"/>
          <p:cNvPicPr>
            <a:picLocks noChangeAspect="1"/>
          </p:cNvPicPr>
          <p:nvPr/>
        </p:nvPicPr>
        <p:blipFill>
          <a:blip r:embed="rId2"/>
          <a:stretch>
            <a:fillRect/>
          </a:stretch>
        </p:blipFill>
        <p:spPr>
          <a:xfrm>
            <a:off x="11292840" y="109728"/>
            <a:ext cx="735869" cy="777240"/>
          </a:xfrm>
          <a:prstGeom prst="rect">
            <a:avLst/>
          </a:prstGeom>
        </p:spPr>
      </p:pic>
      <p:sp>
        <p:nvSpPr>
          <p:cNvPr id="4" name="TextBox 3"/>
          <p:cNvSpPr txBox="1"/>
          <p:nvPr/>
        </p:nvSpPr>
        <p:spPr>
          <a:xfrm>
            <a:off x="731520" y="6537960"/>
            <a:ext cx="10728655" cy="274320"/>
          </a:xfrm>
          <a:prstGeom prst="rect">
            <a:avLst/>
          </a:prstGeom>
          <a:noFill/>
        </p:spPr>
        <p:txBody>
          <a:bodyPr wrap="none" anchor="ctr">
            <a:spAutoFit/>
          </a:bodyPr>
          <a:lstStyle/>
          <a:p>
            <a:pPr algn="l">
              <a:defRPr sz="950">
                <a:solidFill>
                  <a:srgbClr val="94A3B8"/>
                </a:solidFill>
                <a:latin typeface="Calibri"/>
              </a:defRPr>
            </a:pPr>
            <a:r>
              <a:t>Managing Corporate Entrepreneurship (B.Tech 7th Sem) | Krishna Sikheriya (IIT2023139) | IIIT Allahabad</a:t>
            </a:r>
          </a:p>
        </p:txBody>
      </p:sp>
      <p:sp>
        <p:nvSpPr>
          <p:cNvPr id="5" name="Rounded Rectangle 4"/>
          <p:cNvSpPr/>
          <p:nvPr/>
        </p:nvSpPr>
        <p:spPr>
          <a:xfrm>
            <a:off x="731520" y="1280160"/>
            <a:ext cx="5303520" cy="4937760"/>
          </a:xfrm>
          <a:prstGeom prst="roundRect">
            <a:avLst/>
          </a:prstGeom>
          <a:solidFill>
            <a:srgbClr val="F0F7FF"/>
          </a:solidFill>
          <a:ln>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spcAft>
                <a:spcPts val="1000"/>
              </a:spcAft>
              <a:defRPr sz="1600" b="1">
                <a:solidFill>
                  <a:srgbClr val="0E264D"/>
                </a:solidFill>
                <a:latin typeface="Calibri"/>
              </a:defRPr>
            </a:pPr>
            <a:r>
              <a:t>Dataset Characteristics &amp; Scientific Rigor</a:t>
            </a:r>
          </a:p>
          <a:p>
            <a:pPr>
              <a:spcAft>
                <a:spcPts val="800"/>
              </a:spcAft>
              <a:defRPr sz="1100"/>
            </a:pPr>
            <a:r>
              <a:rPr b="1">
                <a:solidFill>
                  <a:srgbClr val="0E264D"/>
                </a:solidFill>
              </a:rPr>
              <a:t>Kaggle IoT Dataset: </a:t>
            </a:r>
            <a:r>
              <a:rPr>
                <a:solidFill>
                  <a:srgbClr val="1E293B"/>
                </a:solidFill>
              </a:rPr>
              <a:t>97,606 raw readings across 133 continuous days (July 28 to Dec 8, 2018), 27,920 unique minute timestamps.</a:t>
            </a:r>
          </a:p>
          <a:p>
            <a:pPr>
              <a:spcAft>
                <a:spcPts val="800"/>
              </a:spcAft>
              <a:defRPr sz="1100"/>
            </a:pPr>
            <a:r>
              <a:rPr b="1">
                <a:solidFill>
                  <a:srgbClr val="0E264D"/>
                </a:solidFill>
              </a:rPr>
              <a:t>Realistic Sampling Dynamics: </a:t>
            </a:r>
            <a:r>
              <a:rPr>
                <a:solidFill>
                  <a:srgbClr val="1E293B"/>
                </a:solidFill>
              </a:rPr>
              <a:t>High inter-arrival irregularity (Mean = 117.8 s, Median = 0.0 s, Std = 5446.3 s, CoV = 46.23). Dropouts span up to 11.57 days, accurately reflecting edge IoT transmission challenges.</a:t>
            </a:r>
          </a:p>
          <a:p>
            <a:pPr>
              <a:spcAft>
                <a:spcPts val="800"/>
              </a:spcAft>
              <a:defRPr sz="1100"/>
            </a:pPr>
            <a:r>
              <a:rPr b="1">
                <a:solidFill>
                  <a:srgbClr val="0E264D"/>
                </a:solidFill>
              </a:rPr>
              <a:t>Dual Sensor Streams: </a:t>
            </a:r>
            <a:r>
              <a:rPr>
                <a:solidFill>
                  <a:srgbClr val="1E293B"/>
                </a:solidFill>
              </a:rPr>
              <a:t>Separated into ambient (Out, 77,260 rows) and internal enclosure proxy (In, 20,345 rows).</a:t>
            </a:r>
          </a:p>
          <a:p>
            <a:pPr>
              <a:spcAft>
                <a:spcPts val="800"/>
              </a:spcAft>
              <a:defRPr sz="1100"/>
            </a:pPr>
            <a:r>
              <a:rPr b="1">
                <a:solidFill>
                  <a:srgbClr val="0E264D"/>
                </a:solidFill>
              </a:rPr>
              <a:t>Structural-Proxy Data Notice: </a:t>
            </a:r>
            <a:r>
              <a:rPr>
                <a:solidFill>
                  <a:srgbClr val="1E293B"/>
                </a:solidFill>
              </a:rPr>
              <a:t>In adherence to strict academic honesty, this dataset originates from an office installation ('Room Admin'), not live pharmaceutical reefer vehicles. We frame it exclusively as an engineering structural proxy to validate asynchronous streaming pipelines and model integration without making ungrounded food-safety claims.</a:t>
            </a:r>
          </a:p>
        </p:txBody>
      </p:sp>
      <p:pic>
        <p:nvPicPr>
          <p:cNvPr id="6" name="Picture 5" descr="fig_temperature_distribution.png"/>
          <p:cNvPicPr>
            <a:picLocks noChangeAspect="1"/>
          </p:cNvPicPr>
          <p:nvPr/>
        </p:nvPicPr>
        <p:blipFill>
          <a:blip r:embed="rId3"/>
          <a:stretch>
            <a:fillRect/>
          </a:stretch>
        </p:blipFill>
        <p:spPr>
          <a:xfrm>
            <a:off x="6309360" y="1280160"/>
            <a:ext cx="5120640" cy="1706880"/>
          </a:xfrm>
          <a:prstGeom prst="rect">
            <a:avLst/>
          </a:prstGeom>
        </p:spPr>
      </p:pic>
      <p:pic>
        <p:nvPicPr>
          <p:cNvPr id="7" name="Picture 6" descr="fig_sampling_intervals_corrected.png"/>
          <p:cNvPicPr>
            <a:picLocks noChangeAspect="1"/>
          </p:cNvPicPr>
          <p:nvPr/>
        </p:nvPicPr>
        <p:blipFill>
          <a:blip r:embed="rId4"/>
          <a:stretch>
            <a:fillRect/>
          </a:stretch>
        </p:blipFill>
        <p:spPr>
          <a:xfrm>
            <a:off x="6309360" y="3749039"/>
            <a:ext cx="5120640" cy="1706880"/>
          </a:xfrm>
          <a:prstGeom prst="rect">
            <a:avLst/>
          </a:prstGeom>
        </p:spPr>
      </p:pic>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05840"/>
          </a:xfrm>
          <a:prstGeom prst="rect">
            <a:avLst/>
          </a:prstGeom>
          <a:solidFill>
            <a:srgbClr val="0E264D"/>
          </a:solidFill>
          <a:ln w="31750">
            <a:solidFill>
              <a:srgbClr val="0284C7"/>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l">
              <a:spcAft>
                <a:spcPts val="200"/>
              </a:spcAft>
              <a:defRPr sz="2200" b="1">
                <a:solidFill>
                  <a:srgbClr val="FFFFFF"/>
                </a:solidFill>
                <a:latin typeface="Calibri"/>
              </a:defRPr>
            </a:pPr>
            <a:r>
              <a:t>System Architecture &amp; SimPy Digital Twin</a:t>
            </a:r>
          </a:p>
          <a:p>
            <a:pPr algn="l">
              <a:defRPr sz="1100">
                <a:solidFill>
                  <a:srgbClr val="BAE6FD"/>
                </a:solidFill>
                <a:latin typeface="Calibri"/>
              </a:defRPr>
            </a:pPr>
            <a:r>
              <a:t>Topic 21 — Digital Twin Early Warning System</a:t>
            </a:r>
          </a:p>
        </p:txBody>
      </p:sp>
      <p:pic>
        <p:nvPicPr>
          <p:cNvPr id="3" name="Picture 2" descr="iiit_allahabad_logo.png"/>
          <p:cNvPicPr>
            <a:picLocks noChangeAspect="1"/>
          </p:cNvPicPr>
          <p:nvPr/>
        </p:nvPicPr>
        <p:blipFill>
          <a:blip r:embed="rId2"/>
          <a:stretch>
            <a:fillRect/>
          </a:stretch>
        </p:blipFill>
        <p:spPr>
          <a:xfrm>
            <a:off x="11292840" y="109728"/>
            <a:ext cx="735869" cy="777240"/>
          </a:xfrm>
          <a:prstGeom prst="rect">
            <a:avLst/>
          </a:prstGeom>
        </p:spPr>
      </p:pic>
      <p:sp>
        <p:nvSpPr>
          <p:cNvPr id="4" name="TextBox 3"/>
          <p:cNvSpPr txBox="1"/>
          <p:nvPr/>
        </p:nvSpPr>
        <p:spPr>
          <a:xfrm>
            <a:off x="731520" y="6537960"/>
            <a:ext cx="10728655" cy="274320"/>
          </a:xfrm>
          <a:prstGeom prst="rect">
            <a:avLst/>
          </a:prstGeom>
          <a:noFill/>
        </p:spPr>
        <p:txBody>
          <a:bodyPr wrap="none" anchor="ctr">
            <a:spAutoFit/>
          </a:bodyPr>
          <a:lstStyle/>
          <a:p>
            <a:pPr algn="l">
              <a:defRPr sz="950">
                <a:solidFill>
                  <a:srgbClr val="94A3B8"/>
                </a:solidFill>
                <a:latin typeface="Calibri"/>
              </a:defRPr>
            </a:pPr>
            <a:r>
              <a:t>Managing Corporate Entrepreneurship (B.Tech 7th Sem) | Krishna Sikheriya (IIT2023139) | IIIT Allahabad</a:t>
            </a:r>
          </a:p>
        </p:txBody>
      </p:sp>
      <p:sp>
        <p:nvSpPr>
          <p:cNvPr id="5" name="Rounded Rectangle 4"/>
          <p:cNvSpPr/>
          <p:nvPr/>
        </p:nvSpPr>
        <p:spPr>
          <a:xfrm>
            <a:off x="731520" y="1280160"/>
            <a:ext cx="5120640" cy="4937760"/>
          </a:xfrm>
          <a:prstGeom prst="roundRect">
            <a:avLst/>
          </a:prstGeom>
          <a:solidFill>
            <a:srgbClr val="F0F7FF"/>
          </a:solidFill>
          <a:ln>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spcAft>
                <a:spcPts val="1000"/>
              </a:spcAft>
              <a:defRPr sz="1600" b="1">
                <a:solidFill>
                  <a:srgbClr val="0E264D"/>
                </a:solidFill>
                <a:latin typeface="Calibri"/>
              </a:defRPr>
            </a:pPr>
            <a:r>
              <a:t>Discrete-Event Simulation Architecture</a:t>
            </a:r>
          </a:p>
          <a:p>
            <a:pPr>
              <a:spcAft>
                <a:spcPts val="800"/>
              </a:spcAft>
              <a:defRPr sz="1100"/>
            </a:pPr>
            <a:r>
              <a:rPr b="1">
                <a:solidFill>
                  <a:srgbClr val="0E264D"/>
                </a:solidFill>
              </a:rPr>
              <a:t>Causal Preprocessing: </a:t>
            </a:r>
            <a:r>
              <a:rPr>
                <a:solidFill>
                  <a:srgbClr val="1E293B"/>
                </a:solidFill>
              </a:rPr>
              <a:t>Corrected day-first timestamp parsing (preventing 48.8% silent parse failures). Derived trailing rolling means and stds with zero look-ahead leakage (D22).</a:t>
            </a:r>
          </a:p>
          <a:p>
            <a:pPr>
              <a:spcAft>
                <a:spcPts val="800"/>
              </a:spcAft>
              <a:defRPr sz="1100"/>
            </a:pPr>
            <a:r>
              <a:rPr b="1">
                <a:solidFill>
                  <a:srgbClr val="0E264D"/>
                </a:solidFill>
              </a:rPr>
              <a:t>SimPy 3-Stage Transit: </a:t>
            </a:r>
            <a:r>
              <a:rPr>
                <a:solidFill>
                  <a:srgbClr val="1E293B"/>
                </a:solidFill>
              </a:rPr>
              <a:t>Source -&gt; Transit -&gt; Destination event-driven virtual clock, replaying real inter-arrival gaps with zero timing discrepancy.</a:t>
            </a:r>
          </a:p>
          <a:p>
            <a:pPr>
              <a:spcAft>
                <a:spcPts val="800"/>
              </a:spcAft>
              <a:defRPr sz="1100"/>
            </a:pPr>
            <a:r>
              <a:rPr b="1">
                <a:solidFill>
                  <a:srgbClr val="0E264D"/>
                </a:solidFill>
              </a:rPr>
              <a:t>Embedded Streaming Monitors: </a:t>
            </a:r>
            <a:r>
              <a:rPr>
                <a:solidFill>
                  <a:srgbClr val="1E293B"/>
                </a:solidFill>
              </a:rPr>
              <a:t>Destination sink embeds three parallel monitors:
• BaselineMonitor (Static 2σ threshold)
• IFMonitor (Isolation Forest partition score)
• LSTMMonitor (Sliding-window reconstruction MSE)</a:t>
            </a:r>
          </a:p>
          <a:p>
            <a:pPr>
              <a:spcAft>
                <a:spcPts val="800"/>
              </a:spcAft>
              <a:defRPr sz="1100"/>
            </a:pPr>
            <a:r>
              <a:rPr b="1">
                <a:solidFill>
                  <a:srgbClr val="0E264D"/>
                </a:solidFill>
              </a:rPr>
              <a:t>Silent Buffer Pre-Warming (D33): </a:t>
            </a:r>
            <a:r>
              <a:rPr>
                <a:solidFill>
                  <a:srgbClr val="1E293B"/>
                </a:solidFill>
              </a:rPr>
              <a:t>Sliding window buffers are silently primed with preceding historical observations, completely eliminating cold-start false negatives during windowed replay.</a:t>
            </a:r>
          </a:p>
        </p:txBody>
      </p:sp>
      <p:sp>
        <p:nvSpPr>
          <p:cNvPr id="6" name="Rounded Rectangle 5"/>
          <p:cNvSpPr/>
          <p:nvPr/>
        </p:nvSpPr>
        <p:spPr>
          <a:xfrm>
            <a:off x="6217920" y="1280160"/>
            <a:ext cx="5212080" cy="685800"/>
          </a:xfrm>
          <a:prstGeom prst="roundRect">
            <a:avLst/>
          </a:prstGeom>
          <a:solidFill>
            <a:srgbClr val="FFFFFF"/>
          </a:solidFill>
          <a:ln w="19050">
            <a:solidFill>
              <a:srgbClr val="0E264D"/>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b="1" sz="1200">
                <a:solidFill>
                  <a:srgbClr val="0E264D"/>
                </a:solidFill>
              </a:defRPr>
            </a:pPr>
            <a:r>
              <a:t>1. Physical IoT Stream</a:t>
            </a:r>
          </a:p>
          <a:p>
            <a:pPr>
              <a:defRPr sz="1000">
                <a:solidFill>
                  <a:srgbClr val="1E293B"/>
                </a:solidFill>
              </a:defRPr>
            </a:pPr>
            <a:r>
              <a:t>Raw telemetry (97,606 rows, IOT-temp.csv)</a:t>
            </a:r>
          </a:p>
        </p:txBody>
      </p:sp>
      <p:sp>
        <p:nvSpPr>
          <p:cNvPr id="7" name="Rounded Rectangle 6"/>
          <p:cNvSpPr/>
          <p:nvPr/>
        </p:nvSpPr>
        <p:spPr>
          <a:xfrm>
            <a:off x="6217920" y="2084831"/>
            <a:ext cx="5212080" cy="685800"/>
          </a:xfrm>
          <a:prstGeom prst="roundRect">
            <a:avLst/>
          </a:prstGeom>
          <a:solidFill>
            <a:srgbClr val="F0F7FF"/>
          </a:solidFill>
          <a:ln w="19050">
            <a:solidFill>
              <a:srgbClr val="0284C7"/>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b="1" sz="1200">
                <a:solidFill>
                  <a:srgbClr val="0284C7"/>
                </a:solidFill>
              </a:defRPr>
            </a:pPr>
            <a:r>
              <a:t>2. Causal Preprocessing</a:t>
            </a:r>
          </a:p>
          <a:p>
            <a:pPr>
              <a:defRPr sz="1000">
                <a:solidFill>
                  <a:srgbClr val="1E293B"/>
                </a:solidFill>
              </a:defRPr>
            </a:pPr>
            <a:r>
              <a:t>dayfirst=True, Δt_k, trailing rolling features</a:t>
            </a:r>
          </a:p>
        </p:txBody>
      </p:sp>
      <p:sp>
        <p:nvSpPr>
          <p:cNvPr id="8" name="Rounded Rectangle 7"/>
          <p:cNvSpPr/>
          <p:nvPr/>
        </p:nvSpPr>
        <p:spPr>
          <a:xfrm>
            <a:off x="6217920" y="2889503"/>
            <a:ext cx="5212080" cy="685800"/>
          </a:xfrm>
          <a:prstGeom prst="roundRect">
            <a:avLst/>
          </a:prstGeom>
          <a:solidFill>
            <a:srgbClr val="F0FDFA"/>
          </a:solidFill>
          <a:ln w="19050">
            <a:solidFill>
              <a:srgbClr val="0D9488"/>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b="1" sz="1200">
                <a:solidFill>
                  <a:srgbClr val="0D9488"/>
                </a:solidFill>
              </a:defRPr>
            </a:pPr>
            <a:r>
              <a:t>3. SimPy Discrete-Event Twin</a:t>
            </a:r>
          </a:p>
          <a:p>
            <a:pPr>
              <a:defRPr sz="1000">
                <a:solidFill>
                  <a:srgbClr val="1E293B"/>
                </a:solidFill>
              </a:defRPr>
            </a:pPr>
            <a:r>
              <a:t>3-Stage Pipeline: Source -&gt; Transit -&gt; Destination</a:t>
            </a:r>
          </a:p>
        </p:txBody>
      </p:sp>
      <p:sp>
        <p:nvSpPr>
          <p:cNvPr id="9" name="Rounded Rectangle 8"/>
          <p:cNvSpPr/>
          <p:nvPr/>
        </p:nvSpPr>
        <p:spPr>
          <a:xfrm>
            <a:off x="6217920" y="3694176"/>
            <a:ext cx="5212080" cy="685800"/>
          </a:xfrm>
          <a:prstGeom prst="roundRect">
            <a:avLst/>
          </a:prstGeom>
          <a:solidFill>
            <a:srgbClr val="F1F5F9"/>
          </a:solidFill>
          <a:ln w="19050">
            <a:solidFill>
              <a:srgbClr val="0E264D"/>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b="1" sz="1200">
                <a:solidFill>
                  <a:srgbClr val="0E264D"/>
                </a:solidFill>
              </a:defRPr>
            </a:pPr>
            <a:r>
              <a:t>4. Embedded Streaming Monitors</a:t>
            </a:r>
          </a:p>
          <a:p>
            <a:pPr>
              <a:defRPr sz="1000">
                <a:solidFill>
                  <a:srgbClr val="1E293B"/>
                </a:solidFill>
              </a:defRPr>
            </a:pPr>
            <a:r>
              <a:t>Baseline (2σ) | IF Monitor | LSTM Monitor</a:t>
            </a:r>
          </a:p>
        </p:txBody>
      </p:sp>
      <p:sp>
        <p:nvSpPr>
          <p:cNvPr id="10" name="Rounded Rectangle 9"/>
          <p:cNvSpPr/>
          <p:nvPr/>
        </p:nvSpPr>
        <p:spPr>
          <a:xfrm>
            <a:off x="6217920" y="4498848"/>
            <a:ext cx="5212080" cy="685800"/>
          </a:xfrm>
          <a:prstGeom prst="roundRect">
            <a:avLst/>
          </a:prstGeom>
          <a:solidFill>
            <a:srgbClr val="FEF3C7"/>
          </a:solidFill>
          <a:ln w="19050">
            <a:solidFill>
              <a:srgbClr val="D97706"/>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b="1" sz="1200">
                <a:solidFill>
                  <a:srgbClr val="D97706"/>
                </a:solidFill>
              </a:defRPr>
            </a:pPr>
            <a:r>
              <a:t>5. Silent Buffer Pre-Warming (D33)</a:t>
            </a:r>
          </a:p>
          <a:p>
            <a:pPr>
              <a:defRPr sz="1000">
                <a:solidFill>
                  <a:srgbClr val="1E293B"/>
                </a:solidFill>
              </a:defRPr>
            </a:pPr>
            <a:r>
              <a:t>History pre-loaded -&gt; 100% live/batch parity</a:t>
            </a:r>
          </a:p>
        </p:txBody>
      </p:sp>
      <p:sp>
        <p:nvSpPr>
          <p:cNvPr id="11" name="Rounded Rectangle 10"/>
          <p:cNvSpPr/>
          <p:nvPr/>
        </p:nvSpPr>
        <p:spPr>
          <a:xfrm>
            <a:off x="6217920" y="5303520"/>
            <a:ext cx="5212080" cy="685800"/>
          </a:xfrm>
          <a:prstGeom prst="roundRect">
            <a:avLst/>
          </a:prstGeom>
          <a:solidFill>
            <a:srgbClr val="E0F2FE"/>
          </a:solidFill>
          <a:ln w="19050">
            <a:solidFill>
              <a:srgbClr val="0284C7"/>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b="1" sz="1200">
                <a:solidFill>
                  <a:srgbClr val="0284C7"/>
                </a:solidFill>
              </a:defRPr>
            </a:pPr>
            <a:r>
              <a:t>6. Cloud Analytics &amp; Dashboard</a:t>
            </a:r>
          </a:p>
          <a:p>
            <a:pPr>
              <a:defRPr sz="1000">
                <a:solidFill>
                  <a:srgbClr val="1E293B"/>
                </a:solidFill>
              </a:defRPr>
            </a:pPr>
            <a:r>
              <a:t>Streamlit UI: Guided Tour &amp; Free Explore</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05840"/>
          </a:xfrm>
          <a:prstGeom prst="rect">
            <a:avLst/>
          </a:prstGeom>
          <a:solidFill>
            <a:srgbClr val="0E264D"/>
          </a:solidFill>
          <a:ln w="31750">
            <a:solidFill>
              <a:srgbClr val="0284C7"/>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l">
              <a:spcAft>
                <a:spcPts val="200"/>
              </a:spcAft>
              <a:defRPr sz="2200" b="1">
                <a:solidFill>
                  <a:srgbClr val="FFFFFF"/>
                </a:solidFill>
                <a:latin typeface="Calibri"/>
              </a:defRPr>
            </a:pPr>
            <a:r>
              <a:t>Experimental Setup &amp; Controlled Anomaly Protocol</a:t>
            </a:r>
          </a:p>
          <a:p>
            <a:pPr algn="l">
              <a:defRPr sz="1100">
                <a:solidFill>
                  <a:srgbClr val="BAE6FD"/>
                </a:solidFill>
                <a:latin typeface="Calibri"/>
              </a:defRPr>
            </a:pPr>
            <a:r>
              <a:t>Topic 21 — Digital Twin Early Warning System</a:t>
            </a:r>
          </a:p>
        </p:txBody>
      </p:sp>
      <p:pic>
        <p:nvPicPr>
          <p:cNvPr id="3" name="Picture 2" descr="iiit_allahabad_logo.png"/>
          <p:cNvPicPr>
            <a:picLocks noChangeAspect="1"/>
          </p:cNvPicPr>
          <p:nvPr/>
        </p:nvPicPr>
        <p:blipFill>
          <a:blip r:embed="rId2"/>
          <a:stretch>
            <a:fillRect/>
          </a:stretch>
        </p:blipFill>
        <p:spPr>
          <a:xfrm>
            <a:off x="11292840" y="109728"/>
            <a:ext cx="735869" cy="777240"/>
          </a:xfrm>
          <a:prstGeom prst="rect">
            <a:avLst/>
          </a:prstGeom>
        </p:spPr>
      </p:pic>
      <p:sp>
        <p:nvSpPr>
          <p:cNvPr id="4" name="TextBox 3"/>
          <p:cNvSpPr txBox="1"/>
          <p:nvPr/>
        </p:nvSpPr>
        <p:spPr>
          <a:xfrm>
            <a:off x="731520" y="6537960"/>
            <a:ext cx="10728655" cy="274320"/>
          </a:xfrm>
          <a:prstGeom prst="rect">
            <a:avLst/>
          </a:prstGeom>
          <a:noFill/>
        </p:spPr>
        <p:txBody>
          <a:bodyPr wrap="none" anchor="ctr">
            <a:spAutoFit/>
          </a:bodyPr>
          <a:lstStyle/>
          <a:p>
            <a:pPr algn="l">
              <a:defRPr sz="950">
                <a:solidFill>
                  <a:srgbClr val="94A3B8"/>
                </a:solidFill>
                <a:latin typeface="Calibri"/>
              </a:defRPr>
            </a:pPr>
            <a:r>
              <a:t>Managing Corporate Entrepreneurship (B.Tech 7th Sem) | Krishna Sikheriya (IIT2023139) | IIIT Allahabad</a:t>
            </a:r>
          </a:p>
        </p:txBody>
      </p:sp>
      <p:sp>
        <p:nvSpPr>
          <p:cNvPr id="5" name="Rounded Rectangle 4"/>
          <p:cNvSpPr/>
          <p:nvPr/>
        </p:nvSpPr>
        <p:spPr>
          <a:xfrm>
            <a:off x="731520" y="1280160"/>
            <a:ext cx="5120640" cy="4937760"/>
          </a:xfrm>
          <a:prstGeom prst="roundRect">
            <a:avLst/>
          </a:prstGeom>
          <a:solidFill>
            <a:srgbClr val="F0F7FF"/>
          </a:solidFill>
          <a:ln>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spcAft>
                <a:spcPts val="1000"/>
              </a:spcAft>
              <a:defRPr sz="1600" b="1">
                <a:solidFill>
                  <a:srgbClr val="0E264D"/>
                </a:solidFill>
                <a:latin typeface="Calibri"/>
              </a:defRPr>
            </a:pPr>
            <a:r>
              <a:t>Controlled Perturbation Injection (Seed 42)</a:t>
            </a:r>
          </a:p>
          <a:p>
            <a:pPr>
              <a:spcAft>
                <a:spcPts val="800"/>
              </a:spcAft>
              <a:defRPr sz="1100"/>
            </a:pPr>
            <a:r>
              <a:rPr b="1">
                <a:solidFill>
                  <a:srgbClr val="0E264D"/>
                </a:solidFill>
              </a:rPr>
              <a:t>30 Controlled Injections: </a:t>
            </a:r>
            <a:r>
              <a:rPr>
                <a:solidFill>
                  <a:srgbClr val="1E293B"/>
                </a:solidFill>
              </a:rPr>
              <a:t>Seeded across chronological timeline representing 3 canonical failure modes:
• Step Spikes (10): Abrupt +5°C to +15°C jumps (door left open).
• Linear Drifts (10): Gradual ramps (compressor refrigerant leak).
• Sensor Flatlines (10): Zero variance persistence (stiction).</a:t>
            </a:r>
          </a:p>
          <a:p>
            <a:pPr>
              <a:spcAft>
                <a:spcPts val="800"/>
              </a:spcAft>
              <a:defRPr sz="1100"/>
            </a:pPr>
            <a:r>
              <a:rPr b="1">
                <a:solidFill>
                  <a:srgbClr val="0E264D"/>
                </a:solidFill>
              </a:rPr>
              <a:t>Strict Chronological Split: </a:t>
            </a:r>
            <a:r>
              <a:rPr>
                <a:solidFill>
                  <a:srgbClr val="1E293B"/>
                </a:solidFill>
              </a:rPr>
              <a:t>70% Train / 30% Test split at cutoff timestamp 2018-10-29 11:10:48.</a:t>
            </a:r>
          </a:p>
          <a:p>
            <a:pPr>
              <a:spcAft>
                <a:spcPts val="800"/>
              </a:spcAft>
              <a:defRPr sz="1100"/>
            </a:pPr>
            <a:r>
              <a:rPr b="1">
                <a:solidFill>
                  <a:srgbClr val="0E264D"/>
                </a:solidFill>
              </a:rPr>
              <a:t>Out-of-Sample Discipline: </a:t>
            </a:r>
            <a:r>
              <a:rPr>
                <a:solidFill>
                  <a:srgbClr val="1E293B"/>
                </a:solidFill>
              </a:rPr>
              <a:t>24 injections fall in the train split (used only for development/previews). All formal headline claims are evaluated strictly on the 6 untouched test injections.</a:t>
            </a:r>
          </a:p>
          <a:p>
            <a:pPr>
              <a:spcAft>
                <a:spcPts val="800"/>
              </a:spcAft>
              <a:defRPr sz="1100"/>
            </a:pPr>
            <a:r>
              <a:rPr b="1">
                <a:solidFill>
                  <a:srgbClr val="0E264D"/>
                </a:solidFill>
              </a:rPr>
              <a:t>Lead Time Metric Definition: </a:t>
            </a:r>
            <a:r>
              <a:rPr>
                <a:solidFill>
                  <a:srgbClr val="1E293B"/>
                </a:solidFill>
              </a:rPr>
              <a:t>Δt_lead = t_irreversibility - t_alarm (where t_irr is a sustained 10-minute breach). Positive = early warning; Negative = late alarm.</a:t>
            </a:r>
          </a:p>
        </p:txBody>
      </p:sp>
      <p:pic>
        <p:nvPicPr>
          <p:cNvPr id="6" name="Picture 5" descr="fig_injection_examples.png"/>
          <p:cNvPicPr>
            <a:picLocks noChangeAspect="1"/>
          </p:cNvPicPr>
          <p:nvPr/>
        </p:nvPicPr>
        <p:blipFill>
          <a:blip r:embed="rId3"/>
          <a:stretch>
            <a:fillRect/>
          </a:stretch>
        </p:blipFill>
        <p:spPr>
          <a:xfrm>
            <a:off x="6217920" y="1371600"/>
            <a:ext cx="5212080" cy="5212080"/>
          </a:xfrm>
          <a:prstGeom prst="rect">
            <a:avLst/>
          </a:prstGeom>
        </p:spPr>
      </p:pic>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05840"/>
          </a:xfrm>
          <a:prstGeom prst="rect">
            <a:avLst/>
          </a:prstGeom>
          <a:solidFill>
            <a:srgbClr val="0E264D"/>
          </a:solidFill>
          <a:ln w="31750">
            <a:solidFill>
              <a:srgbClr val="0284C7"/>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l">
              <a:spcAft>
                <a:spcPts val="200"/>
              </a:spcAft>
              <a:defRPr sz="2200" b="1">
                <a:solidFill>
                  <a:srgbClr val="FFFFFF"/>
                </a:solidFill>
                <a:latin typeface="Calibri"/>
              </a:defRPr>
            </a:pPr>
            <a:r>
              <a:t>Core Result 1: Early-Warning Lead Times (Test Split)</a:t>
            </a:r>
          </a:p>
          <a:p>
            <a:pPr algn="l">
              <a:defRPr sz="1100">
                <a:solidFill>
                  <a:srgbClr val="BAE6FD"/>
                </a:solidFill>
                <a:latin typeface="Calibri"/>
              </a:defRPr>
            </a:pPr>
            <a:r>
              <a:t>Topic 21 — Digital Twin Early Warning System</a:t>
            </a:r>
          </a:p>
        </p:txBody>
      </p:sp>
      <p:pic>
        <p:nvPicPr>
          <p:cNvPr id="3" name="Picture 2" descr="iiit_allahabad_logo.png"/>
          <p:cNvPicPr>
            <a:picLocks noChangeAspect="1"/>
          </p:cNvPicPr>
          <p:nvPr/>
        </p:nvPicPr>
        <p:blipFill>
          <a:blip r:embed="rId2"/>
          <a:stretch>
            <a:fillRect/>
          </a:stretch>
        </p:blipFill>
        <p:spPr>
          <a:xfrm>
            <a:off x="11292840" y="109728"/>
            <a:ext cx="735869" cy="777240"/>
          </a:xfrm>
          <a:prstGeom prst="rect">
            <a:avLst/>
          </a:prstGeom>
        </p:spPr>
      </p:pic>
      <p:sp>
        <p:nvSpPr>
          <p:cNvPr id="4" name="TextBox 3"/>
          <p:cNvSpPr txBox="1"/>
          <p:nvPr/>
        </p:nvSpPr>
        <p:spPr>
          <a:xfrm>
            <a:off x="731520" y="6537960"/>
            <a:ext cx="10728655" cy="274320"/>
          </a:xfrm>
          <a:prstGeom prst="rect">
            <a:avLst/>
          </a:prstGeom>
          <a:noFill/>
        </p:spPr>
        <p:txBody>
          <a:bodyPr wrap="none" anchor="ctr">
            <a:spAutoFit/>
          </a:bodyPr>
          <a:lstStyle/>
          <a:p>
            <a:pPr algn="l">
              <a:defRPr sz="950">
                <a:solidFill>
                  <a:srgbClr val="94A3B8"/>
                </a:solidFill>
                <a:latin typeface="Calibri"/>
              </a:defRPr>
            </a:pPr>
            <a:r>
              <a:t>Managing Corporate Entrepreneurship (B.Tech 7th Sem) | Krishna Sikheriya (IIT2023139) | IIIT Allahabad</a:t>
            </a:r>
          </a:p>
        </p:txBody>
      </p:sp>
      <p:graphicFrame>
        <p:nvGraphicFramePr>
          <p:cNvPr id="5" name="Table 4"/>
          <p:cNvGraphicFramePr>
            <a:graphicFrameLocks noGrp="1"/>
          </p:cNvGraphicFramePr>
          <p:nvPr/>
        </p:nvGraphicFramePr>
        <p:xfrm>
          <a:off x="731520" y="1280160"/>
          <a:ext cx="5943600" cy="3291840"/>
        </p:xfrm>
        <a:graphic>
          <a:graphicData uri="http://schemas.openxmlformats.org/drawingml/2006/table">
            <a:tbl>
              <a:tblPr firstRow="1" bandRow="1">
                <a:tableStyleId>{5C22544A-7EE6-4342-B048-85BDC9FD1C3A}</a:tableStyleId>
              </a:tblPr>
              <a:tblGrid>
                <a:gridCol w="1463040"/>
                <a:gridCol w="914400"/>
                <a:gridCol w="1097280"/>
                <a:gridCol w="1234440"/>
                <a:gridCol w="1234440"/>
              </a:tblGrid>
              <a:tr h="470262">
                <a:tc>
                  <a:txBody>
                    <a:bodyPr/>
                    <a:lstStyle/>
                    <a:p>
                      <a:pPr>
                        <a:defRPr b="1" sz="1000">
                          <a:solidFill>
                            <a:srgbClr val="FFFFFF"/>
                          </a:solidFill>
                        </a:defRPr>
                      </a:pPr>
                      <a:r>
                        <a:t>Injection ID</a:t>
                      </a:r>
                    </a:p>
                  </a:txBody>
                  <a:tcPr>
                    <a:solidFill>
                      <a:srgbClr val="0E264D"/>
                    </a:solidFill>
                  </a:tcPr>
                </a:tc>
                <a:tc>
                  <a:txBody>
                    <a:bodyPr/>
                    <a:lstStyle/>
                    <a:p>
                      <a:pPr>
                        <a:defRPr b="1" sz="1000">
                          <a:solidFill>
                            <a:srgbClr val="FFFFFF"/>
                          </a:solidFill>
                        </a:defRPr>
                      </a:pPr>
                      <a:r>
                        <a:t>Type</a:t>
                      </a:r>
                    </a:p>
                  </a:txBody>
                  <a:tcPr>
                    <a:solidFill>
                      <a:srgbClr val="0E264D"/>
                    </a:solidFill>
                  </a:tcPr>
                </a:tc>
                <a:tc>
                  <a:txBody>
                    <a:bodyPr/>
                    <a:lstStyle/>
                    <a:p>
                      <a:pPr>
                        <a:defRPr b="1" sz="1000">
                          <a:solidFill>
                            <a:srgbClr val="FFFFFF"/>
                          </a:solidFill>
                        </a:defRPr>
                      </a:pPr>
                      <a:r>
                        <a:t>Baseline</a:t>
                      </a:r>
                    </a:p>
                  </a:txBody>
                  <a:tcPr>
                    <a:solidFill>
                      <a:srgbClr val="0E264D"/>
                    </a:solidFill>
                  </a:tcPr>
                </a:tc>
                <a:tc>
                  <a:txBody>
                    <a:bodyPr/>
                    <a:lstStyle/>
                    <a:p>
                      <a:pPr>
                        <a:defRPr b="1" sz="1000">
                          <a:solidFill>
                            <a:srgbClr val="FFFFFF"/>
                          </a:solidFill>
                        </a:defRPr>
                      </a:pPr>
                      <a:r>
                        <a:t>IF Lead Time</a:t>
                      </a:r>
                    </a:p>
                  </a:txBody>
                  <a:tcPr>
                    <a:solidFill>
                      <a:srgbClr val="0E264D"/>
                    </a:solidFill>
                  </a:tcPr>
                </a:tc>
                <a:tc>
                  <a:txBody>
                    <a:bodyPr/>
                    <a:lstStyle/>
                    <a:p>
                      <a:pPr>
                        <a:defRPr b="1" sz="1000">
                          <a:solidFill>
                            <a:srgbClr val="FFFFFF"/>
                          </a:solidFill>
                        </a:defRPr>
                      </a:pPr>
                      <a:r>
                        <a:t>LSTM Lead Time</a:t>
                      </a:r>
                    </a:p>
                  </a:txBody>
                  <a:tcPr>
                    <a:solidFill>
                      <a:srgbClr val="0E264D"/>
                    </a:solidFill>
                  </a:tcPr>
                </a:tc>
              </a:tr>
              <a:tr h="470262">
                <a:tc>
                  <a:txBody>
                    <a:bodyPr/>
                    <a:lstStyle/>
                    <a:p>
                      <a:pPr>
                        <a:defRPr sz="950">
                          <a:solidFill>
                            <a:srgbClr val="1E293B"/>
                          </a:solidFill>
                        </a:defRPr>
                      </a:pPr>
                      <a:r>
                        <a:t>out_step_001</a:t>
                      </a:r>
                    </a:p>
                  </a:txBody>
                  <a:tcPr>
                    <a:solidFill>
                      <a:srgbClr val="F0F7FF"/>
                    </a:solidFill>
                  </a:tcPr>
                </a:tc>
                <a:tc>
                  <a:txBody>
                    <a:bodyPr/>
                    <a:lstStyle/>
                    <a:p>
                      <a:pPr>
                        <a:defRPr sz="950">
                          <a:solidFill>
                            <a:srgbClr val="1E293B"/>
                          </a:solidFill>
                        </a:defRPr>
                      </a:pPr>
                      <a:r>
                        <a:t>Step</a:t>
                      </a:r>
                    </a:p>
                  </a:txBody>
                  <a:tcPr>
                    <a:solidFill>
                      <a:srgbClr val="F0F7FF"/>
                    </a:solidFill>
                  </a:tcPr>
                </a:tc>
                <a:tc>
                  <a:txBody>
                    <a:bodyPr/>
                    <a:lstStyle/>
                    <a:p>
                      <a:pPr>
                        <a:defRPr sz="950">
                          <a:solidFill>
                            <a:srgbClr val="1E293B"/>
                          </a:solidFill>
                        </a:defRPr>
                      </a:pPr>
                      <a:r>
                        <a:t>0.0 min</a:t>
                      </a:r>
                    </a:p>
                  </a:txBody>
                  <a:tcPr>
                    <a:solidFill>
                      <a:srgbClr val="F0F7FF"/>
                    </a:solidFill>
                  </a:tcPr>
                </a:tc>
                <a:tc>
                  <a:txBody>
                    <a:bodyPr/>
                    <a:lstStyle/>
                    <a:p>
                      <a:pPr>
                        <a:defRPr sz="950">
                          <a:solidFill>
                            <a:srgbClr val="1E293B"/>
                          </a:solidFill>
                        </a:defRPr>
                      </a:pPr>
                      <a:r>
                        <a:t>0.0 min</a:t>
                      </a:r>
                    </a:p>
                  </a:txBody>
                  <a:tcPr>
                    <a:solidFill>
                      <a:srgbClr val="F0F7FF"/>
                    </a:solidFill>
                  </a:tcPr>
                </a:tc>
                <a:tc>
                  <a:txBody>
                    <a:bodyPr/>
                    <a:lstStyle/>
                    <a:p>
                      <a:pPr>
                        <a:defRPr sz="950">
                          <a:solidFill>
                            <a:srgbClr val="1E293B"/>
                          </a:solidFill>
                        </a:defRPr>
                      </a:pPr>
                      <a:r>
                        <a:t>0.0 min</a:t>
                      </a:r>
                    </a:p>
                  </a:txBody>
                  <a:tcPr>
                    <a:solidFill>
                      <a:srgbClr val="F0F7FF"/>
                    </a:solidFill>
                  </a:tcPr>
                </a:tc>
              </a:tr>
              <a:tr h="470262">
                <a:tc>
                  <a:txBody>
                    <a:bodyPr/>
                    <a:lstStyle/>
                    <a:p>
                      <a:pPr>
                        <a:defRPr sz="950">
                          <a:solidFill>
                            <a:srgbClr val="1E293B"/>
                          </a:solidFill>
                        </a:defRPr>
                      </a:pPr>
                      <a:r>
                        <a:t>out_drift_009</a:t>
                      </a:r>
                    </a:p>
                  </a:txBody>
                  <a:tcPr>
                    <a:solidFill>
                      <a:srgbClr val="FFFFFF"/>
                    </a:solidFill>
                  </a:tcPr>
                </a:tc>
                <a:tc>
                  <a:txBody>
                    <a:bodyPr/>
                    <a:lstStyle/>
                    <a:p>
                      <a:pPr>
                        <a:defRPr sz="950">
                          <a:solidFill>
                            <a:srgbClr val="1E293B"/>
                          </a:solidFill>
                        </a:defRPr>
                      </a:pPr>
                      <a:r>
                        <a:t>Drift</a:t>
                      </a:r>
                    </a:p>
                  </a:txBody>
                  <a:tcPr>
                    <a:solidFill>
                      <a:srgbClr val="FFFFFF"/>
                    </a:solidFill>
                  </a:tcPr>
                </a:tc>
                <a:tc>
                  <a:txBody>
                    <a:bodyPr/>
                    <a:lstStyle/>
                    <a:p>
                      <a:pPr>
                        <a:defRPr sz="950">
                          <a:solidFill>
                            <a:srgbClr val="1E293B"/>
                          </a:solidFill>
                        </a:defRPr>
                      </a:pPr>
                      <a:r>
                        <a:t>0.0 min</a:t>
                      </a:r>
                    </a:p>
                  </a:txBody>
                  <a:tcPr>
                    <a:solidFill>
                      <a:srgbClr val="FFFFFF"/>
                    </a:solidFill>
                  </a:tcPr>
                </a:tc>
                <a:tc>
                  <a:txBody>
                    <a:bodyPr/>
                    <a:lstStyle/>
                    <a:p>
                      <a:pPr>
                        <a:defRPr sz="950" b="1">
                          <a:solidFill>
                            <a:srgbClr val="16A34A"/>
                          </a:solidFill>
                        </a:defRPr>
                      </a:pPr>
                      <a:r>
                        <a:t>+64.0 min (Early)</a:t>
                      </a:r>
                    </a:p>
                  </a:txBody>
                  <a:tcPr>
                    <a:solidFill>
                      <a:srgbClr val="DCFCE7"/>
                    </a:solidFill>
                  </a:tcPr>
                </a:tc>
                <a:tc>
                  <a:txBody>
                    <a:bodyPr/>
                    <a:lstStyle/>
                    <a:p>
                      <a:pPr>
                        <a:defRPr sz="950" b="1">
                          <a:solidFill>
                            <a:srgbClr val="DC2626"/>
                          </a:solidFill>
                        </a:defRPr>
                      </a:pPr>
                      <a:r>
                        <a:t>-14.0 min (Late)</a:t>
                      </a:r>
                    </a:p>
                  </a:txBody>
                  <a:tcPr>
                    <a:solidFill>
                      <a:srgbClr val="FEE2E2"/>
                    </a:solidFill>
                  </a:tcPr>
                </a:tc>
              </a:tr>
              <a:tr h="470262">
                <a:tc>
                  <a:txBody>
                    <a:bodyPr/>
                    <a:lstStyle/>
                    <a:p>
                      <a:pPr>
                        <a:defRPr sz="950">
                          <a:solidFill>
                            <a:srgbClr val="1E293B"/>
                          </a:solidFill>
                        </a:defRPr>
                      </a:pPr>
                      <a:r>
                        <a:t>out_flatline_012</a:t>
                      </a:r>
                    </a:p>
                  </a:txBody>
                  <a:tcPr>
                    <a:solidFill>
                      <a:srgbClr val="F0F7FF"/>
                    </a:solidFill>
                  </a:tcPr>
                </a:tc>
                <a:tc>
                  <a:txBody>
                    <a:bodyPr/>
                    <a:lstStyle/>
                    <a:p>
                      <a:pPr>
                        <a:defRPr sz="950">
                          <a:solidFill>
                            <a:srgbClr val="1E293B"/>
                          </a:solidFill>
                        </a:defRPr>
                      </a:pPr>
                      <a:r>
                        <a:t>Flatline</a:t>
                      </a:r>
                    </a:p>
                  </a:txBody>
                  <a:tcPr>
                    <a:solidFill>
                      <a:srgbClr val="F0F7FF"/>
                    </a:solidFill>
                  </a:tcPr>
                </a:tc>
                <a:tc>
                  <a:txBody>
                    <a:bodyPr/>
                    <a:lstStyle/>
                    <a:p>
                      <a:pPr>
                        <a:defRPr sz="950">
                          <a:solidFill>
                            <a:srgbClr val="1E293B"/>
                          </a:solidFill>
                        </a:defRPr>
                      </a:pPr>
                      <a:r>
                        <a:t>Missed</a:t>
                      </a:r>
                    </a:p>
                  </a:txBody>
                  <a:tcPr>
                    <a:solidFill>
                      <a:srgbClr val="F0F7FF"/>
                    </a:solidFill>
                  </a:tcPr>
                </a:tc>
                <a:tc>
                  <a:txBody>
                    <a:bodyPr/>
                    <a:lstStyle/>
                    <a:p>
                      <a:pPr>
                        <a:defRPr sz="950">
                          <a:solidFill>
                            <a:srgbClr val="1E293B"/>
                          </a:solidFill>
                        </a:defRPr>
                      </a:pPr>
                      <a:r>
                        <a:t>Detected</a:t>
                      </a:r>
                    </a:p>
                  </a:txBody>
                  <a:tcPr>
                    <a:solidFill>
                      <a:srgbClr val="F0F7FF"/>
                    </a:solidFill>
                  </a:tcPr>
                </a:tc>
                <a:tc>
                  <a:txBody>
                    <a:bodyPr/>
                    <a:lstStyle/>
                    <a:p>
                      <a:pPr>
                        <a:defRPr sz="950">
                          <a:solidFill>
                            <a:srgbClr val="1E293B"/>
                          </a:solidFill>
                        </a:defRPr>
                      </a:pPr>
                      <a:r>
                        <a:t>Detected</a:t>
                      </a:r>
                    </a:p>
                  </a:txBody>
                  <a:tcPr>
                    <a:solidFill>
                      <a:srgbClr val="F0F7FF"/>
                    </a:solidFill>
                  </a:tcPr>
                </a:tc>
              </a:tr>
              <a:tr h="470262">
                <a:tc>
                  <a:txBody>
                    <a:bodyPr/>
                    <a:lstStyle/>
                    <a:p>
                      <a:pPr>
                        <a:defRPr sz="950">
                          <a:solidFill>
                            <a:srgbClr val="1E293B"/>
                          </a:solidFill>
                        </a:defRPr>
                      </a:pPr>
                      <a:r>
                        <a:t>out_flatline_013</a:t>
                      </a:r>
                    </a:p>
                  </a:txBody>
                  <a:tcPr>
                    <a:solidFill>
                      <a:srgbClr val="FFFFFF"/>
                    </a:solidFill>
                  </a:tcPr>
                </a:tc>
                <a:tc>
                  <a:txBody>
                    <a:bodyPr/>
                    <a:lstStyle/>
                    <a:p>
                      <a:pPr>
                        <a:defRPr sz="950">
                          <a:solidFill>
                            <a:srgbClr val="1E293B"/>
                          </a:solidFill>
                        </a:defRPr>
                      </a:pPr>
                      <a:r>
                        <a:t>Flatline</a:t>
                      </a:r>
                    </a:p>
                  </a:txBody>
                  <a:tcPr>
                    <a:solidFill>
                      <a:srgbClr val="FFFFFF"/>
                    </a:solidFill>
                  </a:tcPr>
                </a:tc>
                <a:tc>
                  <a:txBody>
                    <a:bodyPr/>
                    <a:lstStyle/>
                    <a:p>
                      <a:pPr>
                        <a:defRPr sz="950">
                          <a:solidFill>
                            <a:srgbClr val="1E293B"/>
                          </a:solidFill>
                        </a:defRPr>
                      </a:pPr>
                      <a:r>
                        <a:t>Missed</a:t>
                      </a:r>
                    </a:p>
                  </a:txBody>
                  <a:tcPr>
                    <a:solidFill>
                      <a:srgbClr val="FFFFFF"/>
                    </a:solidFill>
                  </a:tcPr>
                </a:tc>
                <a:tc>
                  <a:txBody>
                    <a:bodyPr/>
                    <a:lstStyle/>
                    <a:p>
                      <a:pPr>
                        <a:defRPr sz="950">
                          <a:solidFill>
                            <a:srgbClr val="1E293B"/>
                          </a:solidFill>
                        </a:defRPr>
                      </a:pPr>
                      <a:r>
                        <a:t>Detected</a:t>
                      </a:r>
                    </a:p>
                  </a:txBody>
                  <a:tcPr>
                    <a:solidFill>
                      <a:srgbClr val="FFFFFF"/>
                    </a:solidFill>
                  </a:tcPr>
                </a:tc>
                <a:tc>
                  <a:txBody>
                    <a:bodyPr/>
                    <a:lstStyle/>
                    <a:p>
                      <a:pPr>
                        <a:defRPr sz="950">
                          <a:solidFill>
                            <a:srgbClr val="1E293B"/>
                          </a:solidFill>
                        </a:defRPr>
                      </a:pPr>
                      <a:r>
                        <a:t>Missed</a:t>
                      </a:r>
                    </a:p>
                  </a:txBody>
                  <a:tcPr>
                    <a:solidFill>
                      <a:srgbClr val="FFFFFF"/>
                    </a:solidFill>
                  </a:tcPr>
                </a:tc>
              </a:tr>
              <a:tr h="470262">
                <a:tc>
                  <a:txBody>
                    <a:bodyPr/>
                    <a:lstStyle/>
                    <a:p>
                      <a:pPr>
                        <a:defRPr sz="950">
                          <a:solidFill>
                            <a:srgbClr val="1E293B"/>
                          </a:solidFill>
                        </a:defRPr>
                      </a:pPr>
                      <a:r>
                        <a:t>in_step_018</a:t>
                      </a:r>
                    </a:p>
                  </a:txBody>
                  <a:tcPr>
                    <a:solidFill>
                      <a:srgbClr val="F0F7FF"/>
                    </a:solidFill>
                  </a:tcPr>
                </a:tc>
                <a:tc>
                  <a:txBody>
                    <a:bodyPr/>
                    <a:lstStyle/>
                    <a:p>
                      <a:pPr>
                        <a:defRPr sz="950">
                          <a:solidFill>
                            <a:srgbClr val="1E293B"/>
                          </a:solidFill>
                        </a:defRPr>
                      </a:pPr>
                      <a:r>
                        <a:t>Step</a:t>
                      </a:r>
                    </a:p>
                  </a:txBody>
                  <a:tcPr>
                    <a:solidFill>
                      <a:srgbClr val="F0F7FF"/>
                    </a:solidFill>
                  </a:tcPr>
                </a:tc>
                <a:tc>
                  <a:txBody>
                    <a:bodyPr/>
                    <a:lstStyle/>
                    <a:p>
                      <a:pPr>
                        <a:defRPr sz="950">
                          <a:solidFill>
                            <a:srgbClr val="1E293B"/>
                          </a:solidFill>
                        </a:defRPr>
                      </a:pPr>
                      <a:r>
                        <a:t>0.0 min</a:t>
                      </a:r>
                    </a:p>
                  </a:txBody>
                  <a:tcPr>
                    <a:solidFill>
                      <a:srgbClr val="F0F7FF"/>
                    </a:solidFill>
                  </a:tcPr>
                </a:tc>
                <a:tc>
                  <a:txBody>
                    <a:bodyPr/>
                    <a:lstStyle/>
                    <a:p>
                      <a:pPr>
                        <a:defRPr sz="950">
                          <a:solidFill>
                            <a:srgbClr val="1E293B"/>
                          </a:solidFill>
                        </a:defRPr>
                      </a:pPr>
                      <a:r>
                        <a:t>0.0 min</a:t>
                      </a:r>
                    </a:p>
                  </a:txBody>
                  <a:tcPr>
                    <a:solidFill>
                      <a:srgbClr val="F0F7FF"/>
                    </a:solidFill>
                  </a:tcPr>
                </a:tc>
                <a:tc>
                  <a:txBody>
                    <a:bodyPr/>
                    <a:lstStyle/>
                    <a:p>
                      <a:pPr>
                        <a:defRPr sz="950">
                          <a:solidFill>
                            <a:srgbClr val="1E293B"/>
                          </a:solidFill>
                        </a:defRPr>
                      </a:pPr>
                      <a:r>
                        <a:t>0.0 min</a:t>
                      </a:r>
                    </a:p>
                  </a:txBody>
                  <a:tcPr>
                    <a:solidFill>
                      <a:srgbClr val="F0F7FF"/>
                    </a:solidFill>
                  </a:tcPr>
                </a:tc>
              </a:tr>
              <a:tr h="470268">
                <a:tc>
                  <a:txBody>
                    <a:bodyPr/>
                    <a:lstStyle/>
                    <a:p>
                      <a:pPr>
                        <a:defRPr sz="950">
                          <a:solidFill>
                            <a:srgbClr val="1E293B"/>
                          </a:solidFill>
                        </a:defRPr>
                      </a:pPr>
                      <a:r>
                        <a:t>in_drift_023</a:t>
                      </a:r>
                    </a:p>
                  </a:txBody>
                  <a:tcPr>
                    <a:solidFill>
                      <a:srgbClr val="FFFFFF"/>
                    </a:solidFill>
                  </a:tcPr>
                </a:tc>
                <a:tc>
                  <a:txBody>
                    <a:bodyPr/>
                    <a:lstStyle/>
                    <a:p>
                      <a:pPr>
                        <a:defRPr sz="950">
                          <a:solidFill>
                            <a:srgbClr val="1E293B"/>
                          </a:solidFill>
                        </a:defRPr>
                      </a:pPr>
                      <a:r>
                        <a:t>Drift</a:t>
                      </a:r>
                    </a:p>
                  </a:txBody>
                  <a:tcPr>
                    <a:solidFill>
                      <a:srgbClr val="FFFFFF"/>
                    </a:solidFill>
                  </a:tcPr>
                </a:tc>
                <a:tc>
                  <a:txBody>
                    <a:bodyPr/>
                    <a:lstStyle/>
                    <a:p>
                      <a:pPr>
                        <a:defRPr sz="950">
                          <a:solidFill>
                            <a:srgbClr val="1E293B"/>
                          </a:solidFill>
                        </a:defRPr>
                      </a:pPr>
                      <a:r>
                        <a:t>0.0 min</a:t>
                      </a:r>
                    </a:p>
                  </a:txBody>
                  <a:tcPr>
                    <a:solidFill>
                      <a:srgbClr val="FFFFFF"/>
                    </a:solidFill>
                  </a:tcPr>
                </a:tc>
                <a:tc>
                  <a:txBody>
                    <a:bodyPr/>
                    <a:lstStyle/>
                    <a:p>
                      <a:pPr>
                        <a:defRPr sz="950" b="1">
                          <a:solidFill>
                            <a:srgbClr val="16A34A"/>
                          </a:solidFill>
                        </a:defRPr>
                      </a:pPr>
                      <a:r>
                        <a:t>+11.0 min (Early)</a:t>
                      </a:r>
                    </a:p>
                  </a:txBody>
                  <a:tcPr>
                    <a:solidFill>
                      <a:srgbClr val="DCFCE7"/>
                    </a:solidFill>
                  </a:tcPr>
                </a:tc>
                <a:tc>
                  <a:txBody>
                    <a:bodyPr/>
                    <a:lstStyle/>
                    <a:p>
                      <a:pPr>
                        <a:defRPr sz="950">
                          <a:solidFill>
                            <a:srgbClr val="1E293B"/>
                          </a:solidFill>
                        </a:defRPr>
                      </a:pPr>
                      <a:r>
                        <a:t>0.0 min</a:t>
                      </a:r>
                    </a:p>
                  </a:txBody>
                  <a:tcPr>
                    <a:solidFill>
                      <a:srgbClr val="FFFFFF"/>
                    </a:solidFill>
                  </a:tcPr>
                </a:tc>
              </a:tr>
            </a:tbl>
          </a:graphicData>
        </a:graphic>
      </p:graphicFrame>
      <p:sp>
        <p:nvSpPr>
          <p:cNvPr id="6" name="Rounded Rectangle 5"/>
          <p:cNvSpPr/>
          <p:nvPr/>
        </p:nvSpPr>
        <p:spPr>
          <a:xfrm>
            <a:off x="731520" y="4754880"/>
            <a:ext cx="5943600" cy="1463040"/>
          </a:xfrm>
          <a:prstGeom prst="roundRect">
            <a:avLst/>
          </a:prstGeom>
          <a:solidFill>
            <a:srgbClr val="F0F7FF"/>
          </a:solidFill>
          <a:ln>
            <a:solidFill>
              <a:srgbClr val="0284C7"/>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spcAft>
                <a:spcPts val="400"/>
              </a:spcAft>
              <a:defRPr b="1" sz="1200">
                <a:solidFill>
                  <a:srgbClr val="0E264D"/>
                </a:solidFill>
              </a:defRPr>
            </a:pPr>
            <a:r>
              <a:t>Key Scientific Observations</a:t>
            </a:r>
          </a:p>
          <a:p>
            <a:r>
              <a:rPr b="1" sz="1000">
                <a:solidFill>
                  <a:srgbClr val="1E293B"/>
                </a:solidFill>
              </a:rPr>
              <a:t>Decisive Drift Lead Time: </a:t>
            </a:r>
            <a:r>
              <a:rPr sz="1000">
                <a:solidFill>
                  <a:srgbClr val="1E293B"/>
                </a:solidFill>
              </a:rPr>
              <a:t>Isolation Forest flags subtle variance change 64 minutes (Out) and 11 minutes (In) before irreversibility.</a:t>
            </a:r>
          </a:p>
          <a:p>
            <a:r>
              <a:rPr b="1" sz="1000">
                <a:solidFill>
                  <a:srgbClr val="1E293B"/>
                </a:solidFill>
              </a:rPr>
              <a:t>Step Synchrony: </a:t>
            </a:r>
            <a:r>
              <a:rPr sz="1000">
                <a:solidFill>
                  <a:srgbClr val="1E293B"/>
                </a:solidFill>
              </a:rPr>
              <a:t>For abrupt spikes, all models trigger simultaneously at 0.0 min.</a:t>
            </a:r>
          </a:p>
          <a:p>
            <a:r>
              <a:rPr b="1" sz="1000">
                <a:solidFill>
                  <a:srgbClr val="1E293B"/>
                </a:solidFill>
              </a:rPr>
              <a:t>LSTM Adaptation Lag: </a:t>
            </a:r>
            <a:r>
              <a:rPr sz="1000">
                <a:solidFill>
                  <a:srgbClr val="1E293B"/>
                </a:solidFill>
              </a:rPr>
              <a:t>LSTM was late by 14 min on Out drift due to error adaptation.</a:t>
            </a:r>
          </a:p>
        </p:txBody>
      </p:sp>
      <p:pic>
        <p:nvPicPr>
          <p:cNvPr id="7" name="Picture 6" descr="fig_m4b_three_way_lead_times.png"/>
          <p:cNvPicPr>
            <a:picLocks noChangeAspect="1"/>
          </p:cNvPicPr>
          <p:nvPr/>
        </p:nvPicPr>
        <p:blipFill>
          <a:blip r:embed="rId3"/>
          <a:stretch>
            <a:fillRect/>
          </a:stretch>
        </p:blipFill>
        <p:spPr>
          <a:xfrm>
            <a:off x="6858000" y="1280160"/>
            <a:ext cx="4572000" cy="1806248"/>
          </a:xfrm>
          <a:prstGeom prst="rect">
            <a:avLst/>
          </a:prstGeom>
        </p:spPr>
      </p:pic>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05840"/>
          </a:xfrm>
          <a:prstGeom prst="rect">
            <a:avLst/>
          </a:prstGeom>
          <a:solidFill>
            <a:srgbClr val="0E264D"/>
          </a:solidFill>
          <a:ln w="31750">
            <a:solidFill>
              <a:srgbClr val="0284C7"/>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l">
              <a:spcAft>
                <a:spcPts val="200"/>
              </a:spcAft>
              <a:defRPr sz="2200" b="1">
                <a:solidFill>
                  <a:srgbClr val="FFFFFF"/>
                </a:solidFill>
                <a:latin typeface="Calibri"/>
              </a:defRPr>
            </a:pPr>
            <a:r>
              <a:t>Core Result 2: Point-Wise Metrics &amp; Trade-Offs</a:t>
            </a:r>
          </a:p>
          <a:p>
            <a:pPr algn="l">
              <a:defRPr sz="1100">
                <a:solidFill>
                  <a:srgbClr val="BAE6FD"/>
                </a:solidFill>
                <a:latin typeface="Calibri"/>
              </a:defRPr>
            </a:pPr>
            <a:r>
              <a:t>Topic 21 — Digital Twin Early Warning System</a:t>
            </a:r>
          </a:p>
        </p:txBody>
      </p:sp>
      <p:pic>
        <p:nvPicPr>
          <p:cNvPr id="3" name="Picture 2" descr="iiit_allahabad_logo.png"/>
          <p:cNvPicPr>
            <a:picLocks noChangeAspect="1"/>
          </p:cNvPicPr>
          <p:nvPr/>
        </p:nvPicPr>
        <p:blipFill>
          <a:blip r:embed="rId2"/>
          <a:stretch>
            <a:fillRect/>
          </a:stretch>
        </p:blipFill>
        <p:spPr>
          <a:xfrm>
            <a:off x="11292840" y="109728"/>
            <a:ext cx="735869" cy="777240"/>
          </a:xfrm>
          <a:prstGeom prst="rect">
            <a:avLst/>
          </a:prstGeom>
        </p:spPr>
      </p:pic>
      <p:sp>
        <p:nvSpPr>
          <p:cNvPr id="4" name="TextBox 3"/>
          <p:cNvSpPr txBox="1"/>
          <p:nvPr/>
        </p:nvSpPr>
        <p:spPr>
          <a:xfrm>
            <a:off x="731520" y="6537960"/>
            <a:ext cx="10728655" cy="274320"/>
          </a:xfrm>
          <a:prstGeom prst="rect">
            <a:avLst/>
          </a:prstGeom>
          <a:noFill/>
        </p:spPr>
        <p:txBody>
          <a:bodyPr wrap="none" anchor="ctr">
            <a:spAutoFit/>
          </a:bodyPr>
          <a:lstStyle/>
          <a:p>
            <a:pPr algn="l">
              <a:defRPr sz="950">
                <a:solidFill>
                  <a:srgbClr val="94A3B8"/>
                </a:solidFill>
                <a:latin typeface="Calibri"/>
              </a:defRPr>
            </a:pPr>
            <a:r>
              <a:t>Managing Corporate Entrepreneurship (B.Tech 7th Sem) | Krishna Sikheriya (IIT2023139) | IIIT Allahabad</a:t>
            </a:r>
          </a:p>
        </p:txBody>
      </p:sp>
      <p:sp>
        <p:nvSpPr>
          <p:cNvPr id="5" name="Rounded Rectangle 4"/>
          <p:cNvSpPr/>
          <p:nvPr/>
        </p:nvSpPr>
        <p:spPr>
          <a:xfrm>
            <a:off x="731520" y="1280160"/>
            <a:ext cx="5303520" cy="4937760"/>
          </a:xfrm>
          <a:prstGeom prst="roundRect">
            <a:avLst/>
          </a:prstGeom>
          <a:solidFill>
            <a:srgbClr val="F0F7FF"/>
          </a:solidFill>
          <a:ln>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spcAft>
                <a:spcPts val="800"/>
              </a:spcAft>
              <a:defRPr sz="1600" b="1">
                <a:solidFill>
                  <a:srgbClr val="0E264D"/>
                </a:solidFill>
                <a:latin typeface="Calibri"/>
              </a:defRPr>
            </a:pPr>
            <a:r>
              <a:t>Operational Role Trade-Offs (D35 Data)</a:t>
            </a:r>
          </a:p>
          <a:p>
            <a:pPr>
              <a:spcAft>
                <a:spcPts val="600"/>
              </a:spcAft>
              <a:defRPr sz="1050"/>
            </a:pPr>
            <a:r>
              <a:rPr b="1">
                <a:solidFill>
                  <a:srgbClr val="0E264D"/>
                </a:solidFill>
              </a:rPr>
              <a:t>Isolation Forest — High-Recall Early Tripwire:</a:t>
            </a:r>
            <a:r>
              <a:rPr>
                <a:solidFill>
                  <a:srgbClr val="1E293B"/>
                </a:solidFill>
              </a:rPr>
              <a:t>
• Recall: 80.00% (Out), 91.30% (In)
• Trade-off: High False Positive Rate (45.59% Out, 26.98% In)
• Role: Aggressive frontline tripwire where missing a breach is fatal.</a:t>
            </a:r>
          </a:p>
          <a:p>
            <a:pPr>
              <a:spcAft>
                <a:spcPts val="600"/>
              </a:spcAft>
              <a:defRPr sz="1050"/>
            </a:pPr>
            <a:r>
              <a:rPr b="1">
                <a:solidFill>
                  <a:srgbClr val="0E264D"/>
                </a:solidFill>
              </a:rPr>
              <a:t>LSTM-Autoencoder — Precision-Favoring Verifier:</a:t>
            </a:r>
            <a:r>
              <a:rPr>
                <a:solidFill>
                  <a:srgbClr val="1E293B"/>
                </a:solidFill>
              </a:rPr>
              <a:t>
• On In series: 13.11% Precision, 2.85% FPR, 0.3852 AUC-PR
• Trade-off: Lower recall on Out series (20.00%, AUC-PR 0.0049)
• Role: Conservative secondary verifier to prevent false alarm fatigue.</a:t>
            </a:r>
          </a:p>
          <a:p>
            <a:pPr>
              <a:spcAft>
                <a:spcPts val="600"/>
              </a:spcAft>
              <a:defRPr sz="1050"/>
            </a:pPr>
            <a:r>
              <a:rPr b="1">
                <a:solidFill>
                  <a:srgbClr val="0E264D"/>
                </a:solidFill>
              </a:rPr>
              <a:t>Extreme Prevalence Context (~0.5% Anomaly Rate):</a:t>
            </a:r>
            <a:r>
              <a:rPr>
                <a:solidFill>
                  <a:srgbClr val="1E293B"/>
                </a:solidFill>
              </a:rPr>
              <a:t>
• True anomaly rows represent only 65/13,372 (0.48%) on Out and 23/3,767 (0.61%) on In.
• Under severe class imbalance, low absolute F1 scores are mathematically inevitable, not a defect.
• Primary Metric: Lead time runway (Δt_lead), not point-wise F1.</a:t>
            </a:r>
          </a:p>
        </p:txBody>
      </p:sp>
      <p:pic>
        <p:nvPicPr>
          <p:cNvPr id="6" name="Picture 5" descr="fig_m4b_pr_curves.png"/>
          <p:cNvPicPr>
            <a:picLocks noChangeAspect="1"/>
          </p:cNvPicPr>
          <p:nvPr/>
        </p:nvPicPr>
        <p:blipFill>
          <a:blip r:embed="rId3"/>
          <a:stretch>
            <a:fillRect/>
          </a:stretch>
        </p:blipFill>
        <p:spPr>
          <a:xfrm>
            <a:off x="6217920" y="1280160"/>
            <a:ext cx="5212080" cy="2022598"/>
          </a:xfrm>
          <a:prstGeom prst="rect">
            <a:avLst/>
          </a:prstGeom>
        </p:spPr>
      </p:pic>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05840"/>
          </a:xfrm>
          <a:prstGeom prst="rect">
            <a:avLst/>
          </a:prstGeom>
          <a:solidFill>
            <a:srgbClr val="0E264D"/>
          </a:solidFill>
          <a:ln w="31750">
            <a:solidFill>
              <a:srgbClr val="0284C7"/>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l">
              <a:spcAft>
                <a:spcPts val="200"/>
              </a:spcAft>
              <a:defRPr sz="2200" b="1">
                <a:solidFill>
                  <a:srgbClr val="FFFFFF"/>
                </a:solidFill>
                <a:latin typeface="Calibri"/>
              </a:defRPr>
            </a:pPr>
            <a:r>
              <a:t>Digital Twin Parity &amp; Interactive Live Dashboard</a:t>
            </a:r>
          </a:p>
          <a:p>
            <a:pPr algn="l">
              <a:defRPr sz="1100">
                <a:solidFill>
                  <a:srgbClr val="BAE6FD"/>
                </a:solidFill>
                <a:latin typeface="Calibri"/>
              </a:defRPr>
            </a:pPr>
            <a:r>
              <a:t>Topic 21 — Digital Twin Early Warning System</a:t>
            </a:r>
          </a:p>
        </p:txBody>
      </p:sp>
      <p:pic>
        <p:nvPicPr>
          <p:cNvPr id="3" name="Picture 2" descr="iiit_allahabad_logo.png"/>
          <p:cNvPicPr>
            <a:picLocks noChangeAspect="1"/>
          </p:cNvPicPr>
          <p:nvPr/>
        </p:nvPicPr>
        <p:blipFill>
          <a:blip r:embed="rId2"/>
          <a:stretch>
            <a:fillRect/>
          </a:stretch>
        </p:blipFill>
        <p:spPr>
          <a:xfrm>
            <a:off x="11292840" y="109728"/>
            <a:ext cx="735869" cy="777240"/>
          </a:xfrm>
          <a:prstGeom prst="rect">
            <a:avLst/>
          </a:prstGeom>
        </p:spPr>
      </p:pic>
      <p:sp>
        <p:nvSpPr>
          <p:cNvPr id="4" name="TextBox 3"/>
          <p:cNvSpPr txBox="1"/>
          <p:nvPr/>
        </p:nvSpPr>
        <p:spPr>
          <a:xfrm>
            <a:off x="731520" y="6537960"/>
            <a:ext cx="10728655" cy="274320"/>
          </a:xfrm>
          <a:prstGeom prst="rect">
            <a:avLst/>
          </a:prstGeom>
          <a:noFill/>
        </p:spPr>
        <p:txBody>
          <a:bodyPr wrap="none" anchor="ctr">
            <a:spAutoFit/>
          </a:bodyPr>
          <a:lstStyle/>
          <a:p>
            <a:pPr algn="l">
              <a:defRPr sz="950">
                <a:solidFill>
                  <a:srgbClr val="94A3B8"/>
                </a:solidFill>
                <a:latin typeface="Calibri"/>
              </a:defRPr>
            </a:pPr>
            <a:r>
              <a:t>Managing Corporate Entrepreneurship (B.Tech 7th Sem) | Krishna Sikheriya (IIT2023139) | IIIT Allahabad</a:t>
            </a:r>
          </a:p>
        </p:txBody>
      </p:sp>
      <p:sp>
        <p:nvSpPr>
          <p:cNvPr id="5" name="Rounded Rectangle 4"/>
          <p:cNvSpPr/>
          <p:nvPr/>
        </p:nvSpPr>
        <p:spPr>
          <a:xfrm>
            <a:off x="731520" y="1280160"/>
            <a:ext cx="5120640" cy="4937760"/>
          </a:xfrm>
          <a:prstGeom prst="roundRect">
            <a:avLst/>
          </a:prstGeom>
          <a:solidFill>
            <a:srgbClr val="F0F7FF"/>
          </a:solidFill>
          <a:ln>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spcAft>
                <a:spcPts val="1000"/>
              </a:spcAft>
              <a:defRPr sz="1600" b="1">
                <a:solidFill>
                  <a:srgbClr val="0E264D"/>
                </a:solidFill>
                <a:latin typeface="Calibri"/>
              </a:defRPr>
            </a:pPr>
            <a:r>
              <a:t>Simulation Fidelity &amp; Live/Batch Parity</a:t>
            </a:r>
          </a:p>
          <a:p>
            <a:pPr>
              <a:spcAft>
                <a:spcPts val="1000"/>
              </a:spcAft>
              <a:defRPr sz="1100"/>
            </a:pPr>
            <a:r>
              <a:rPr b="1">
                <a:solidFill>
                  <a:srgbClr val="0E264D"/>
                </a:solidFill>
              </a:rPr>
              <a:t>100% Bit-for-Bit Verification: </a:t>
            </a:r>
            <a:r>
              <a:rPr>
                <a:solidFill>
                  <a:srgbClr val="1E293B"/>
                </a:solidFill>
              </a:rPr>
              <a:t>SimPy simulation replayed 97,603 readings in 6.03 s CPU time (&gt;1.9M× real-time speedup) with exactly 0.00 s virtual clock drift.</a:t>
            </a:r>
          </a:p>
          <a:p>
            <a:pPr>
              <a:spcAft>
                <a:spcPts val="1000"/>
              </a:spcAft>
              <a:defRPr sz="1100"/>
            </a:pPr>
            <a:r>
              <a:rPr b="1">
                <a:solidFill>
                  <a:srgbClr val="0E264D"/>
                </a:solidFill>
              </a:rPr>
              <a:t>Zero Discrepancy Across All Tests: </a:t>
            </a:r>
            <a:r>
              <a:rPr>
                <a:solidFill>
                  <a:srgbClr val="1E293B"/>
                </a:solidFill>
              </a:rPr>
              <a:t>Across 30 injections × 3 monitors, all 42 applicable test evaluations matched batch results bit-for-bit (0 mismatches).</a:t>
            </a:r>
          </a:p>
          <a:p>
            <a:pPr>
              <a:spcAft>
                <a:spcPts val="1000"/>
              </a:spcAft>
              <a:defRPr sz="1100"/>
            </a:pPr>
            <a:r>
              <a:rPr b="1">
                <a:solidFill>
                  <a:srgbClr val="0E264D"/>
                </a:solidFill>
              </a:rPr>
              <a:t>Buffer Pre-Warming Proven: </a:t>
            </a:r>
            <a:r>
              <a:rPr>
                <a:solidFill>
                  <a:srgbClr val="1E293B"/>
                </a:solidFill>
              </a:rPr>
              <a:t>Pre-flight checks and automated tests (test_d33_prewarm.py) pass cleanly in 15.3 s, guaranteeing reliable cold-chain simulation without state lag.</a:t>
            </a:r>
          </a:p>
        </p:txBody>
      </p:sp>
      <p:sp>
        <p:nvSpPr>
          <p:cNvPr id="6" name="Rounded Rectangle 5"/>
          <p:cNvSpPr/>
          <p:nvPr/>
        </p:nvSpPr>
        <p:spPr>
          <a:xfrm>
            <a:off x="6217920" y="1280160"/>
            <a:ext cx="5212080" cy="4937760"/>
          </a:xfrm>
          <a:prstGeom prst="roundRect">
            <a:avLst/>
          </a:prstGeom>
          <a:solidFill>
            <a:srgbClr val="FFFFFF"/>
          </a:solidFill>
          <a:ln w="19050">
            <a:solidFill>
              <a:srgbClr val="0284C7"/>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spcAft>
                <a:spcPts val="1000"/>
              </a:spcAft>
              <a:defRPr sz="1600" b="1">
                <a:solidFill>
                  <a:srgbClr val="0284C7"/>
                </a:solidFill>
                <a:latin typeface="Calibri"/>
              </a:defRPr>
            </a:pPr>
            <a:r>
              <a:t>Deployed Streamlit Cloud Application</a:t>
            </a:r>
          </a:p>
          <a:p>
            <a:pPr>
              <a:spcAft>
                <a:spcPts val="800"/>
              </a:spcAft>
              <a:defRPr sz="1100"/>
            </a:pPr>
            <a:r>
              <a:rPr b="1">
                <a:solidFill>
                  <a:srgbClr val="0E264D"/>
                </a:solidFill>
              </a:rPr>
              <a:t>Public URL: </a:t>
            </a:r>
            <a:r>
              <a:rPr>
                <a:solidFill>
                  <a:srgbClr val="1E293B"/>
                </a:solidFill>
              </a:rPr>
              <a:t>coldchain-ews-twin.streamlit.app</a:t>
            </a:r>
          </a:p>
          <a:p>
            <a:pPr>
              <a:spcAft>
                <a:spcPts val="800"/>
              </a:spcAft>
              <a:defRPr sz="1100"/>
            </a:pPr>
            <a:r>
              <a:rPr b="1">
                <a:solidFill>
                  <a:srgbClr val="0E264D"/>
                </a:solidFill>
              </a:rPr>
              <a:t>Dual Interaction Modes: </a:t>
            </a:r>
            <a:r>
              <a:rPr>
                <a:solidFill>
                  <a:srgbClr val="1E293B"/>
                </a:solidFill>
              </a:rPr>
              <a:t>
• Guided Tour: 4-step narrated demonstration designed for viva presentations.
• Free Explore: Interactive parameter tuning and inspection of all 30 injections.</a:t>
            </a:r>
          </a:p>
          <a:p>
            <a:pPr>
              <a:spcAft>
                <a:spcPts val="800"/>
              </a:spcAft>
              <a:defRPr sz="1100"/>
            </a:pPr>
            <a:r>
              <a:rPr b="1">
                <a:solidFill>
                  <a:srgbClr val="0E264D"/>
                </a:solidFill>
              </a:rPr>
              <a:t>Single Source of Truth: </a:t>
            </a:r>
            <a:r>
              <a:rPr>
                <a:solidFill>
                  <a:srgbClr val="1E293B"/>
                </a:solidFill>
              </a:rPr>
              <a:t>No hardcoded numbers in presentation layer (D34). Narrative text interpolates dynamically from verified evaluation CSVs.</a:t>
            </a:r>
          </a:p>
          <a:p>
            <a:pPr>
              <a:spcAft>
                <a:spcPts val="800"/>
              </a:spcAft>
              <a:defRPr sz="1100"/>
            </a:pPr>
            <a:r>
              <a:rPr b="1">
                <a:solidFill>
                  <a:srgbClr val="0E264D"/>
                </a:solidFill>
              </a:rPr>
              <a:t>Zero Code Duplication: </a:t>
            </a:r>
            <a:r>
              <a:rPr>
                <a:solidFill>
                  <a:srgbClr val="1E293B"/>
                </a:solidFill>
              </a:rPr>
              <a:t>Dashboard directly imports verified detection logic from src/twin_monitors.py.</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05840"/>
          </a:xfrm>
          <a:prstGeom prst="rect">
            <a:avLst/>
          </a:prstGeom>
          <a:solidFill>
            <a:srgbClr val="0E264D"/>
          </a:solidFill>
          <a:ln w="31750">
            <a:solidFill>
              <a:srgbClr val="0284C7"/>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l">
              <a:spcAft>
                <a:spcPts val="200"/>
              </a:spcAft>
              <a:defRPr sz="2200" b="1">
                <a:solidFill>
                  <a:srgbClr val="FFFFFF"/>
                </a:solidFill>
                <a:latin typeface="Calibri"/>
              </a:defRPr>
            </a:pPr>
            <a:r>
              <a:t>Conclusion &amp; Corporate Entrepreneurship Relevance</a:t>
            </a:r>
          </a:p>
          <a:p>
            <a:pPr algn="l">
              <a:defRPr sz="1100">
                <a:solidFill>
                  <a:srgbClr val="BAE6FD"/>
                </a:solidFill>
                <a:latin typeface="Calibri"/>
              </a:defRPr>
            </a:pPr>
            <a:r>
              <a:t>Topic 21 — Digital Twin Early Warning System</a:t>
            </a:r>
          </a:p>
        </p:txBody>
      </p:sp>
      <p:pic>
        <p:nvPicPr>
          <p:cNvPr id="3" name="Picture 2" descr="iiit_allahabad_logo.png"/>
          <p:cNvPicPr>
            <a:picLocks noChangeAspect="1"/>
          </p:cNvPicPr>
          <p:nvPr/>
        </p:nvPicPr>
        <p:blipFill>
          <a:blip r:embed="rId2"/>
          <a:stretch>
            <a:fillRect/>
          </a:stretch>
        </p:blipFill>
        <p:spPr>
          <a:xfrm>
            <a:off x="11292840" y="109728"/>
            <a:ext cx="735869" cy="777240"/>
          </a:xfrm>
          <a:prstGeom prst="rect">
            <a:avLst/>
          </a:prstGeom>
        </p:spPr>
      </p:pic>
      <p:sp>
        <p:nvSpPr>
          <p:cNvPr id="4" name="TextBox 3"/>
          <p:cNvSpPr txBox="1"/>
          <p:nvPr/>
        </p:nvSpPr>
        <p:spPr>
          <a:xfrm>
            <a:off x="731520" y="6537960"/>
            <a:ext cx="10728655" cy="274320"/>
          </a:xfrm>
          <a:prstGeom prst="rect">
            <a:avLst/>
          </a:prstGeom>
          <a:noFill/>
        </p:spPr>
        <p:txBody>
          <a:bodyPr wrap="none" anchor="ctr">
            <a:spAutoFit/>
          </a:bodyPr>
          <a:lstStyle/>
          <a:p>
            <a:pPr algn="l">
              <a:defRPr sz="950">
                <a:solidFill>
                  <a:srgbClr val="94A3B8"/>
                </a:solidFill>
                <a:latin typeface="Calibri"/>
              </a:defRPr>
            </a:pPr>
            <a:r>
              <a:t>Managing Corporate Entrepreneurship (B.Tech 7th Sem) | Krishna Sikheriya (IIT2023139) | IIIT Allahabad</a:t>
            </a:r>
          </a:p>
        </p:txBody>
      </p:sp>
      <p:sp>
        <p:nvSpPr>
          <p:cNvPr id="5" name="Rounded Rectangle 4"/>
          <p:cNvSpPr/>
          <p:nvPr/>
        </p:nvSpPr>
        <p:spPr>
          <a:xfrm>
            <a:off x="731520" y="1280160"/>
            <a:ext cx="10728655" cy="3931920"/>
          </a:xfrm>
          <a:prstGeom prst="roundRect">
            <a:avLst/>
          </a:prstGeom>
          <a:solidFill>
            <a:srgbClr val="F0F7FF"/>
          </a:solidFill>
          <a:ln>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spcAft>
                <a:spcPts val="1200"/>
              </a:spcAft>
              <a:defRPr sz="1700" b="1">
                <a:solidFill>
                  <a:srgbClr val="0E264D"/>
                </a:solidFill>
                <a:latin typeface="Calibri"/>
              </a:defRPr>
            </a:pPr>
            <a:r>
              <a:t>Corporate Entrepreneurship &amp; Technical Takeaways</a:t>
            </a:r>
          </a:p>
          <a:p>
            <a:pPr>
              <a:spcAft>
                <a:spcPts val="800"/>
              </a:spcAft>
              <a:defRPr sz="1150"/>
            </a:pPr>
            <a:r>
              <a:rPr b="1">
                <a:solidFill>
                  <a:srgbClr val="0E264D"/>
                </a:solidFill>
              </a:rPr>
              <a:t>1. Evidence-First Engineering &amp; Risk Management: </a:t>
            </a:r>
            <a:r>
              <a:rPr>
                <a:solidFill>
                  <a:srgbClr val="1E293B"/>
                </a:solidFill>
              </a:rPr>
              <a:t>Honest reporting of real trade-offs: We openly documented where deep learning lagged on drift and where classical ML excelled, avoiding the common corporate trap of fabricating artificial 99% accuracy claims.</a:t>
            </a:r>
          </a:p>
          <a:p>
            <a:pPr>
              <a:spcAft>
                <a:spcPts val="800"/>
              </a:spcAft>
              <a:defRPr sz="1150"/>
            </a:pPr>
            <a:r>
              <a:rPr b="1">
                <a:solidFill>
                  <a:srgbClr val="0E264D"/>
                </a:solidFill>
              </a:rPr>
              <a:t>2. Disciplined Architecture &amp; Auditability: </a:t>
            </a:r>
            <a:r>
              <a:rPr>
                <a:solidFill>
                  <a:srgbClr val="1E293B"/>
                </a:solidFill>
              </a:rPr>
              <a:t>Maintained an append-only Architectural Decision Log (35 formal entries D1–D35). This rigorous audit process caught 4 critical bugs (timestamp parse inversion, rolling leakage, cold starts) before they could compromise evaluation.</a:t>
            </a:r>
          </a:p>
          <a:p>
            <a:pPr>
              <a:spcAft>
                <a:spcPts val="800"/>
              </a:spcAft>
              <a:defRPr sz="1150"/>
            </a:pPr>
            <a:r>
              <a:rPr b="1">
                <a:solidFill>
                  <a:srgbClr val="0E264D"/>
                </a:solidFill>
              </a:rPr>
              <a:t>3. Technology Adoption Strategy: </a:t>
            </a:r>
            <a:r>
              <a:rPr>
                <a:solidFill>
                  <a:srgbClr val="1E293B"/>
                </a:solidFill>
              </a:rPr>
              <a:t>Demonstrated that classical ML (Isolation Forest) can outperform deep neural networks for edge streaming early warning (+64 min lead time), providing high ROI at low compute overhead.</a:t>
            </a:r>
          </a:p>
          <a:p>
            <a:pPr>
              <a:spcAft>
                <a:spcPts val="800"/>
              </a:spcAft>
              <a:defRPr sz="1150"/>
            </a:pPr>
            <a:r>
              <a:rPr b="1">
                <a:solidFill>
                  <a:srgbClr val="0E264D"/>
                </a:solidFill>
              </a:rPr>
              <a:t>4. Complete Deliverable Portfolio: </a:t>
            </a:r>
            <a:r>
              <a:rPr>
                <a:solidFill>
                  <a:srgbClr val="1E293B"/>
                </a:solidFill>
              </a:rPr>
              <a:t>100% technically complete: Scaffolding, Models, Discrete-Event Twin, Automated Tests, Full 12-Chapter Report, and Live Web Dashboard.</a:t>
            </a:r>
          </a:p>
        </p:txBody>
      </p:sp>
      <p:sp>
        <p:nvSpPr>
          <p:cNvPr id="6" name="Rounded Rectangle 5"/>
          <p:cNvSpPr/>
          <p:nvPr/>
        </p:nvSpPr>
        <p:spPr>
          <a:xfrm>
            <a:off x="731520" y="5394960"/>
            <a:ext cx="10728655" cy="868680"/>
          </a:xfrm>
          <a:prstGeom prst="roundRect">
            <a:avLst/>
          </a:prstGeom>
          <a:solidFill>
            <a:srgbClr val="0E264D"/>
          </a:solidFill>
          <a:ln w="19050">
            <a:solidFill>
              <a:srgbClr val="0284C7"/>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b="1" sz="1400">
                <a:solidFill>
                  <a:srgbClr val="FFFFFF"/>
                </a:solidFill>
              </a:defRPr>
            </a:pPr>
            <a:r>
              <a:t>Thank you for your time! | Open for Questions &amp; Interactive Dashboard Demonstration</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05840"/>
          </a:xfrm>
          <a:prstGeom prst="rect">
            <a:avLst/>
          </a:prstGeom>
          <a:solidFill>
            <a:srgbClr val="0E264D"/>
          </a:solidFill>
          <a:ln w="31750">
            <a:solidFill>
              <a:srgbClr val="0284C7"/>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l">
              <a:spcAft>
                <a:spcPts val="200"/>
              </a:spcAft>
              <a:defRPr sz="2200" b="1">
                <a:solidFill>
                  <a:srgbClr val="FFFFFF"/>
                </a:solidFill>
                <a:latin typeface="Calibri"/>
              </a:defRPr>
            </a:pPr>
            <a:r>
              <a:t>References &amp; Benchmark Literature</a:t>
            </a:r>
          </a:p>
          <a:p>
            <a:pPr algn="l">
              <a:defRPr sz="1100">
                <a:solidFill>
                  <a:srgbClr val="BAE6FD"/>
                </a:solidFill>
                <a:latin typeface="Calibri"/>
              </a:defRPr>
            </a:pPr>
            <a:r>
              <a:t>Topic 21 — Digital Twin Early Warning System</a:t>
            </a:r>
          </a:p>
        </p:txBody>
      </p:sp>
      <p:pic>
        <p:nvPicPr>
          <p:cNvPr id="3" name="Picture 2" descr="iiit_allahabad_logo.png"/>
          <p:cNvPicPr>
            <a:picLocks noChangeAspect="1"/>
          </p:cNvPicPr>
          <p:nvPr/>
        </p:nvPicPr>
        <p:blipFill>
          <a:blip r:embed="rId2"/>
          <a:stretch>
            <a:fillRect/>
          </a:stretch>
        </p:blipFill>
        <p:spPr>
          <a:xfrm>
            <a:off x="11292840" y="109728"/>
            <a:ext cx="735869" cy="777240"/>
          </a:xfrm>
          <a:prstGeom prst="rect">
            <a:avLst/>
          </a:prstGeom>
        </p:spPr>
      </p:pic>
      <p:sp>
        <p:nvSpPr>
          <p:cNvPr id="4" name="TextBox 3"/>
          <p:cNvSpPr txBox="1"/>
          <p:nvPr/>
        </p:nvSpPr>
        <p:spPr>
          <a:xfrm>
            <a:off x="731520" y="6537960"/>
            <a:ext cx="10728655" cy="274320"/>
          </a:xfrm>
          <a:prstGeom prst="rect">
            <a:avLst/>
          </a:prstGeom>
          <a:noFill/>
        </p:spPr>
        <p:txBody>
          <a:bodyPr wrap="none" anchor="ctr">
            <a:spAutoFit/>
          </a:bodyPr>
          <a:lstStyle/>
          <a:p>
            <a:pPr algn="l">
              <a:defRPr sz="950">
                <a:solidFill>
                  <a:srgbClr val="94A3B8"/>
                </a:solidFill>
                <a:latin typeface="Calibri"/>
              </a:defRPr>
            </a:pPr>
            <a:r>
              <a:t>Managing Corporate Entrepreneurship (B.Tech 7th Sem) | Krishna Sikheriya (IIT2023139) | IIIT Allahabad</a:t>
            </a:r>
          </a:p>
        </p:txBody>
      </p:sp>
      <p:sp>
        <p:nvSpPr>
          <p:cNvPr id="5" name="Rounded Rectangle 4"/>
          <p:cNvSpPr/>
          <p:nvPr/>
        </p:nvSpPr>
        <p:spPr>
          <a:xfrm>
            <a:off x="731520" y="1280160"/>
            <a:ext cx="5120640" cy="4937760"/>
          </a:xfrm>
          <a:prstGeom prst="roundRect">
            <a:avLst/>
          </a:prstGeom>
          <a:solidFill>
            <a:srgbClr val="F0F7FF"/>
          </a:solidFill>
          <a:ln>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spcAft>
                <a:spcPts val="800"/>
              </a:spcAft>
              <a:defRPr sz="1500" b="1">
                <a:solidFill>
                  <a:srgbClr val="0E264D"/>
                </a:solidFill>
                <a:latin typeface="Calibri"/>
              </a:defRPr>
            </a:pPr>
            <a:r>
              <a:t>Recent Cold-Chain Benchmarks (2023–2026)</a:t>
            </a:r>
          </a:p>
          <a:p>
            <a:pPr>
              <a:spcAft>
                <a:spcPts val="600"/>
              </a:spcAft>
              <a:defRPr sz="950">
                <a:solidFill>
                  <a:srgbClr val="1E293B"/>
                </a:solidFill>
              </a:defRPr>
            </a:pPr>
            <a:r>
              <a:t>1. Vukšić, M., Ćelić, J., Ogrizović, D., &amp; Perić Hadžić, A. (2026). Early Anomaly Detection in Maritime Refrigerated Containers Using a Hybrid Digital Twin and Deep Learning Framework. Applied Sciences, 16(4), 1887.</a:t>
            </a:r>
          </a:p>
          <a:p>
            <a:pPr>
              <a:spcAft>
                <a:spcPts val="600"/>
              </a:spcAft>
              <a:defRPr sz="950">
                <a:solidFill>
                  <a:srgbClr val="1E293B"/>
                </a:solidFill>
              </a:defRPr>
            </a:pPr>
            <a:r>
              <a:t>2. Xie, Z., Long, H., Ling, C., Zhou, Y., &amp; Luo, Y. (2025). An Anomaly Detection Scheme for Data Stream in Cold Chain Logistics. PLOS ONE, 20(3), e0315322.</a:t>
            </a:r>
          </a:p>
          <a:p>
            <a:pPr>
              <a:spcAft>
                <a:spcPts val="600"/>
              </a:spcAft>
              <a:defRPr sz="950">
                <a:solidFill>
                  <a:srgbClr val="1E293B"/>
                </a:solidFill>
              </a:defRPr>
            </a:pPr>
            <a:r>
              <a:t>3. Meng, X., Xie, R., Liao, J., Shen, X., &amp; Yang, S. (2024). A Cost-Effective Over-Temperature Alarm System for Cold Chain Delivery. Journal of Food Engineering, 368, 111914.</a:t>
            </a:r>
          </a:p>
          <a:p>
            <a:pPr>
              <a:spcAft>
                <a:spcPts val="600"/>
              </a:spcAft>
              <a:defRPr sz="950">
                <a:solidFill>
                  <a:srgbClr val="1E293B"/>
                </a:solidFill>
              </a:defRPr>
            </a:pPr>
            <a:r>
              <a:t>4. Wu, W., Shen, L., Zhao, Z., Harish, A. R., Zhong, R. Y., &amp; Huang, G. Q. (2023). Internet of Everything and Digital Twin Enabled Service Platform for Cold Chain Logistics. Journal of Industrial Information Integration, 33, 100443.</a:t>
            </a:r>
          </a:p>
          <a:p>
            <a:pPr>
              <a:spcAft>
                <a:spcPts val="600"/>
              </a:spcAft>
              <a:defRPr sz="950">
                <a:solidFill>
                  <a:srgbClr val="1E293B"/>
                </a:solidFill>
              </a:defRPr>
            </a:pPr>
            <a:r>
              <a:t>5. Defraeye, T., Shrivastava, C., Berry, T., Verboven, P., Onwude, D., Schudel, S., et al. (2023). Digital Twins of Food Cold Chains: Advances, Challenges, and Opportunities. Computers and Electronics in Agriculture, 214, 108252.</a:t>
            </a:r>
          </a:p>
        </p:txBody>
      </p:sp>
      <p:sp>
        <p:nvSpPr>
          <p:cNvPr id="6" name="Rounded Rectangle 5"/>
          <p:cNvSpPr/>
          <p:nvPr/>
        </p:nvSpPr>
        <p:spPr>
          <a:xfrm>
            <a:off x="6217920" y="1280160"/>
            <a:ext cx="5212080" cy="4937760"/>
          </a:xfrm>
          <a:prstGeom prst="roundRect">
            <a:avLst/>
          </a:prstGeom>
          <a:solidFill>
            <a:srgbClr val="FFFFFF"/>
          </a:solidFill>
          <a:ln w="19050">
            <a:solidFill>
              <a:srgbClr val="0284C7"/>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spcAft>
                <a:spcPts val="800"/>
              </a:spcAft>
              <a:defRPr sz="1500" b="1">
                <a:solidFill>
                  <a:srgbClr val="0284C7"/>
                </a:solidFill>
                <a:latin typeface="Calibri"/>
              </a:defRPr>
            </a:pPr>
            <a:r>
              <a:t>Foundational Algorithms &amp; Project Assets</a:t>
            </a:r>
          </a:p>
          <a:p>
            <a:pPr>
              <a:spcAft>
                <a:spcPts val="600"/>
              </a:spcAft>
              <a:defRPr sz="1000">
                <a:solidFill>
                  <a:srgbClr val="1E293B"/>
                </a:solidFill>
              </a:defRPr>
            </a:pPr>
            <a:r>
              <a:t>6. Liu, F. T., Ting, K. M., &amp; Zhou, Z.-H. (2008). Isolation Forest. 2008 Eighth IEEE International Conference on Data Mining (ICDM), 413–422.</a:t>
            </a:r>
          </a:p>
          <a:p>
            <a:pPr>
              <a:spcAft>
                <a:spcPts val="600"/>
              </a:spcAft>
              <a:defRPr sz="1000">
                <a:solidFill>
                  <a:srgbClr val="1E293B"/>
                </a:solidFill>
              </a:defRPr>
            </a:pPr>
            <a:r>
              <a:t>7. Malhotra, P., Ramakrishnan, A., Anand, G., Vig, L., Agarwal, P., &amp; Shroff, G. (2016). LSTM-based Encoder-Decoder for Multi-sensor Anomaly Detection. ICML 2016 Anomaly Detection Workshop.</a:t>
            </a:r>
          </a:p>
          <a:p>
            <a:pPr>
              <a:spcAft>
                <a:spcPts val="600"/>
              </a:spcAft>
              <a:defRPr sz="1000">
                <a:solidFill>
                  <a:srgbClr val="1E293B"/>
                </a:solidFill>
              </a:defRPr>
            </a:pPr>
            <a:r>
              <a:t>8. Anand Jha, A. (2018). Temperature Readings: IoT Devices Telemetry Dataset. Kaggle Datasets (Structural Proxy Dataset).</a:t>
            </a:r>
          </a:p>
          <a:p>
            <a:br/>
            <a:pPr>
              <a:spcAft>
                <a:spcPts val="600"/>
              </a:spcAft>
              <a:defRPr sz="1000">
                <a:solidFill>
                  <a:srgbClr val="1E293B"/>
                </a:solidFill>
              </a:defRPr>
            </a:pPr>
            <a:r>
              <a:t>• Live Deployed Dashboard: https://coldchain-ews-twin.streamlit.app/</a:t>
            </a:r>
          </a:p>
          <a:p>
            <a:pPr>
              <a:spcAft>
                <a:spcPts val="600"/>
              </a:spcAft>
              <a:defRPr sz="1000">
                <a:solidFill>
                  <a:srgbClr val="1E293B"/>
                </a:solidFill>
              </a:defRPr>
            </a:pPr>
            <a:r>
              <a:t>• Open-Source Code Repository: https://github.com/Krishna200608/coldchain-ews-twin</a:t>
            </a:r>
          </a:p>
          <a:p>
            <a:pPr>
              <a:spcAft>
                <a:spcPts val="600"/>
              </a:spcAft>
              <a:defRPr sz="1000">
                <a:solidFill>
                  <a:srgbClr val="1E293B"/>
                </a:solidFill>
              </a:defRPr>
            </a:pPr>
            <a:r>
              <a:t>• Institution: Department of Information Technology, IIIT Allahabad</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